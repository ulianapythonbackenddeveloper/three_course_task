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64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99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20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18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34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51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48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42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87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44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AD826C-D183-4EEB-B79F-FCA381B56DBB}" type="datetimeFigureOut">
              <a:rPr lang="ru-RU" smtClean="0"/>
              <a:t>03.08.2025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924B89A-56DA-4085-80F5-11FEDC047368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551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23BBB-9379-40A0-ACD6-7C5EA0A64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 dirty="0"/>
              <a:t>Идентификация бизнес-рисков</a:t>
            </a:r>
          </a:p>
        </p:txBody>
      </p:sp>
    </p:spTree>
    <p:extLst>
      <p:ext uri="{BB962C8B-B14F-4D97-AF65-F5344CB8AC3E}">
        <p14:creationId xmlns:p14="http://schemas.microsoft.com/office/powerpoint/2010/main" val="201149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3FA8F-0ACC-4513-94CF-E25AADBF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Введение в бизнес-риски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E028FB-4518-4393-B519-E8EFA098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845734"/>
            <a:ext cx="11725275" cy="4440766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800" b="1" dirty="0">
                <a:solidFill>
                  <a:srgbClr val="333333"/>
                </a:solidFill>
                <a:effectLst/>
                <a:latin typeface="-apple-system"/>
              </a:rPr>
              <a:t>Понятие бизнес-рисков</a:t>
            </a:r>
            <a:r>
              <a:rPr lang="ru-RU" sz="2800" b="0" dirty="0">
                <a:solidFill>
                  <a:srgbClr val="333333"/>
                </a:solidFill>
                <a:effectLst/>
                <a:latin typeface="-apple-system"/>
              </a:rPr>
              <a:t>: </a:t>
            </a:r>
            <a:r>
              <a:rPr lang="ru-RU" sz="2800" b="1" dirty="0">
                <a:solidFill>
                  <a:srgbClr val="333333"/>
                </a:solidFill>
                <a:effectLst/>
                <a:latin typeface="-apple-system"/>
              </a:rPr>
              <a:t>бизнес-риски</a:t>
            </a:r>
            <a:r>
              <a:rPr lang="ru-RU" sz="2800" b="0" dirty="0">
                <a:solidFill>
                  <a:srgbClr val="333333"/>
                </a:solidFill>
                <a:effectLst/>
                <a:latin typeface="-apple-system"/>
              </a:rPr>
              <a:t> — это убытки или трудности в достижении поставленных целей. Сюда относят все негативные обстоятельства, связанные с услугами, производством, продажей товаров, другими процессами в собственном деле. Риск в бизнесе связан с ростом расходов, снижением спроса, форс-мажорными обстоятельствами, неплатёжеспособностью покупателей.</a:t>
            </a:r>
          </a:p>
          <a:p>
            <a:pPr algn="l"/>
            <a:r>
              <a:rPr lang="ru-RU" sz="2800" b="1" dirty="0">
                <a:solidFill>
                  <a:srgbClr val="333333"/>
                </a:solidFill>
                <a:effectLst/>
                <a:latin typeface="-apple-system"/>
              </a:rPr>
              <a:t>Значение идентификации рисков для устойчивого развития</a:t>
            </a:r>
            <a:r>
              <a:rPr lang="ru-RU" sz="2800" b="0" dirty="0">
                <a:solidFill>
                  <a:srgbClr val="333333"/>
                </a:solidFill>
                <a:effectLst/>
                <a:latin typeface="-apple-system"/>
              </a:rPr>
              <a:t>: эффективное управление рисками, связанными с устойчивым развитием, позволяет оценивать перспективу и своевременно реагировать на происходящие внешние и внутренние изменения среды. Это даёт возможность не только предотвращать потенциальные угрозы, но и использовать тренды для реализации новых возможностей.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6450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C08FB-3B47-4D49-A443-B4835B09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выявления рисков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ABE56E-4BCE-4A8B-BE61-2E7BC910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845734"/>
            <a:ext cx="10374630" cy="3621616"/>
          </a:xfrm>
        </p:spPr>
        <p:txBody>
          <a:bodyPr>
            <a:normAutofit/>
          </a:bodyPr>
          <a:lstStyle/>
          <a:p>
            <a:pPr algn="l"/>
            <a:endParaRPr lang="ru-RU" b="1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2400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Качественный метод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Фокусируется на описательных и субъективных оценках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Помогает определить, оценить и </a:t>
            </a:r>
            <a:r>
              <a:rPr lang="ru-RU" sz="24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приоритизировать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риски, которые могут повлиять на успех проекта.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sz="2400" b="1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400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Количественный метод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Использует числовые данные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для оценки вероятности и воздействия рисков. 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56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D0885-C9A3-4F52-AA39-E452AB08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Качественный метод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1F40B9-3BA0-4A46-94F2-D47DB088D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Фокусируется на описательных и субъективных оценках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Помогает определить, оценить 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приоритизировать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риски, которые могут повлиять на успех проекта. Некоторые методы: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SWOT-анализ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помогает выявить сильные и слабые стороны проекта, а также возможности и угрозы.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Дельфи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опрос экспертов для получения консенсуса по поводу рисков. Эксперты анонимно отвечают на вопросы, а затем их ответы обрабатываются и анализируются для выявления общих тенденций и мнений.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Анализ сценариев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разработка различных сценариев развития событий и оценка их влияния на проект.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463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3F1CD-4F98-4A61-8BFE-D66B2EBF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Количественный метод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5508E-DC96-4414-AF1A-F9CDB917C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Использует числовые данные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для оценки вероятности и воздействия рисков. Некоторые инструменты: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Анализ чувствительности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оценка влияния изменений различных факторов на общий риск. Помогает определить, какие факторы оказывают наибольшее влияние на риск и как изменения в этих факторах могут повлиять на общий результат.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Моделирование Монте-Карло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использование случайных чисел для моделирования множества сценариев и оценки вероятности различных исходов. Позволяет создать множество возможных сценариев развития событий и оценить вероятность каждого из них.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Дерево решений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визуализация возможных решений и их последствий для оценки рисков. Помогает структурировать и анализировать возможные решения и их последствия, что позволяет выбрать наиболее оптимальный вариант.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6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EFC9C-D9A6-4353-A5E6-C24CD461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Внутренние источники риска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A52B1A-CCFE-41B5-BE27-3DDBB443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Внутренние источники риска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связаны с хозяйственной деятельностью предприятия и его персонала. Они обусловлены процессами, которые возникают в ходе производства и реализации продукции и могут повлиять на результаты бизнеса. </a:t>
            </a:r>
          </a:p>
          <a:p>
            <a:pPr algn="l"/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Некоторые внутренние источники риска: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Структурные факторы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: неэффективность сформированной системы организации и управления, в том числе организационной структуры, устанавливающей состав, подчинённость, взаимосвязи структурных подразделений и должностных лиц.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Человеческий фактор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: ошибки, невнимательность, недобросовестность или некомпетентность сотрудников могут привести к серьёзным проблемам и потерям для компании. Ошибки, как правило, непреднамеренны: человек выполняет ошибочные действия, расценивая их как верные или наиболее подходящие.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Процессные недостатки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: неэффективные решения, которые не приносят ожидаемого результата или приводят к негативным последствиям для предприятия. Они связаны с неправильным выбором стратегии развития, ошибками в управлении персоналом или недостаточной адаптацией к изменениям внешней среды.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788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3572D-D964-4420-BDF4-4B215E84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Внешние источники риска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18927-FB8D-42D4-927C-D278980A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1845734"/>
            <a:ext cx="11630025" cy="4383616"/>
          </a:xfrm>
        </p:spPr>
        <p:txBody>
          <a:bodyPr>
            <a:normAutofit/>
          </a:bodyPr>
          <a:lstStyle/>
          <a:p>
            <a:pPr algn="l"/>
            <a:r>
              <a:rPr lang="ru-RU" sz="1800" b="1" dirty="0">
                <a:solidFill>
                  <a:srgbClr val="333333"/>
                </a:solidFill>
                <a:effectLst/>
                <a:latin typeface="YS Text"/>
              </a:rPr>
              <a:t>Внешние источники риска</a:t>
            </a:r>
            <a:r>
              <a:rPr lang="ru-RU" sz="1800" b="0" dirty="0">
                <a:solidFill>
                  <a:srgbClr val="333333"/>
                </a:solidFill>
                <a:effectLst/>
                <a:latin typeface="YS Text"/>
              </a:rPr>
              <a:t> — факторы, которые находятся вне прямого контроля организации. </a:t>
            </a:r>
          </a:p>
          <a:p>
            <a:pPr algn="l"/>
            <a:r>
              <a:rPr lang="ru-RU" sz="1800" b="0" dirty="0">
                <a:solidFill>
                  <a:srgbClr val="333333"/>
                </a:solidFill>
                <a:effectLst/>
                <a:latin typeface="YS Text"/>
              </a:rPr>
              <a:t>Некоторые внешние источники риска: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333333"/>
                </a:solidFill>
                <a:effectLst/>
                <a:latin typeface="YS Text"/>
              </a:rPr>
              <a:t>Экономические факторы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YS Text"/>
              </a:rPr>
              <a:t>: макроэкономические потрясения (кризисы, нарушение производственных связей, инфляция, потеря рынков сырья, материалов, энергоносителей, готовой продукции и т. д.). Также к экономическим факторам относят колебания кредитных ставок и валютных курсов, изменения налогового законодательства, низкую платёжеспособность населения и другие.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333333"/>
                </a:solidFill>
                <a:effectLst/>
                <a:latin typeface="YS Text"/>
              </a:rPr>
              <a:t>Правовые факторы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YS Text"/>
              </a:rPr>
              <a:t>: несовершенство правовой системы, противоречивость законодательства, его подверженность изменениям, в том числе в части несовершенства методов государственного регулирования и надзора. Также к правовым факторам относят нарушения контрагентами нормативных правовых актов и условий заключённых договоров.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333333"/>
                </a:solidFill>
                <a:effectLst/>
                <a:latin typeface="YS Text"/>
              </a:rPr>
              <a:t>Социальные риски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YS Text"/>
              </a:rPr>
              <a:t>: стихийные бедствия (землетрясения, оползни, извержения вулканов, штормы, наводнения, ураганы, засушливость и засуха, морозы, лесные пожары, град и сильные дожди). Также к социальным рискам относят загрязнение окружающей среды, вырубку лесов, техногенные катастрофы, засоленность почвы, кислотные дожди и другие.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53847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310C7-F023-4ED0-B4CA-ADE94F4B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Примеры типичных рисков для различных отраслей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2232D-9FB8-490D-BEEA-4A9FEAD6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3616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Финансовый сектор</a:t>
            </a:r>
            <a:r>
              <a:rPr lang="ru-RU" b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Кредитный риск.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Риск ликвидности.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Рыночный риск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Инвестиционный риск.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b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Производственный сектор</a:t>
            </a:r>
            <a:r>
              <a:rPr lang="ru-RU" b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Травмы и несчастные случаи.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Отказ оборудования.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Пожары, взрывы.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Загрязнение окружающей среды.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Нарушения в снабжении и логистике.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Кражи и мошенничество.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Несоблюдение нормативных требований.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b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IT-сектор</a:t>
            </a:r>
            <a:r>
              <a:rPr lang="ru-RU" b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Риски кибербезопасности.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Комплаенс-риски.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Операционные риски.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Стратегические риски.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67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05DD-7EAF-4F82-BDD3-4AE30A17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рисками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6CD64D-0D94-4A0E-BFAD-318F782B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 управлять идентифицированными рисками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Оценка и </a:t>
            </a:r>
            <a:r>
              <a:rPr lang="ru-RU" sz="240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приоритизация</a:t>
            </a:r>
            <a:r>
              <a:rPr lang="ru-RU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рисков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Разработка стратегий снижения риска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Мониторинг и повторная оценка рисков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20630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750</Words>
  <Application>Microsoft Office PowerPoint</Application>
  <PresentationFormat>Широкоэкранный</PresentationFormat>
  <Paragraphs>61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YS Text</vt:lpstr>
      <vt:lpstr>Ретро</vt:lpstr>
      <vt:lpstr>Идентификация бизнес-рисков</vt:lpstr>
      <vt:lpstr>Введение в бизнес-риски</vt:lpstr>
      <vt:lpstr>Методы выявления рисков</vt:lpstr>
      <vt:lpstr>Качественный метод</vt:lpstr>
      <vt:lpstr>Количественный метод</vt:lpstr>
      <vt:lpstr>Внутренние источники риска </vt:lpstr>
      <vt:lpstr>Внешние источники риска </vt:lpstr>
      <vt:lpstr>Примеры типичных рисков для различных отраслей</vt:lpstr>
      <vt:lpstr>Управление рисками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Идентификация бизнес-рисков</dc:title>
  <dc:creator>Admin</dc:creator>
  <cp:lastModifiedBy>Admin</cp:lastModifiedBy>
  <cp:revision>8</cp:revision>
  <dcterms:created xsi:type="dcterms:W3CDTF">2025-08-03T13:34:05Z</dcterms:created>
  <dcterms:modified xsi:type="dcterms:W3CDTF">2025-08-03T14:05:16Z</dcterms:modified>
</cp:coreProperties>
</file>