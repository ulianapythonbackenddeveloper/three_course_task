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7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831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65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14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27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39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64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99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32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4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0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37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21454C-F9E5-4A84-8006-8549522F7D2C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03F79B8-9ABE-4EF1-8876-D86A3B488F9A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9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770C87-29FC-44DB-AB8A-C0DE14A4A0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Оценка и </a:t>
            </a:r>
            <a:r>
              <a:rPr lang="en-US" sz="5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анализ</a:t>
            </a:r>
            <a:r>
              <a:rPr lang="en-US" sz="5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5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бизнес-рисков</a:t>
            </a:r>
            <a:endParaRPr lang="ru-RU" sz="34400" b="1" dirty="0"/>
          </a:p>
        </p:txBody>
      </p:sp>
    </p:spTree>
    <p:extLst>
      <p:ext uri="{BB962C8B-B14F-4D97-AF65-F5344CB8AC3E}">
        <p14:creationId xmlns:p14="http://schemas.microsoft.com/office/powerpoint/2010/main" val="178807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35D47-876B-40EC-BD79-8FBD33E5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chemeClr val="tx1"/>
                </a:solidFill>
                <a:effectLst/>
                <a:latin typeface="-apple-system"/>
              </a:rPr>
              <a:t>задачи анализа бизнес-рисков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4AF52D-FE39-4191-9E5A-73E8DF9AE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solidFill>
                  <a:schemeClr val="tx1"/>
                </a:solidFill>
                <a:latin typeface="-apple-system"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выявление основного для предприятия вида риска;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 определение вероятности наступления рисковых событий;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 анализ и оценка степени ущерба и возможных потерь;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 проведение мероприятий, повышающих качество управления рисками;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 оценка, анализ и ликвидационные мероприятия по устранению негативных последствий от наступления рисковых ситуаций;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 восстановление, корректировка и повышение уровня устойчивости и безопасности предприятия от рисков.</a:t>
            </a:r>
          </a:p>
          <a:p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01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F0BFD-D6CA-4C03-A8F2-30BAE097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dirty="0">
                <a:solidFill>
                  <a:schemeClr val="tx1"/>
                </a:solidFill>
                <a:effectLst/>
                <a:latin typeface="-apple-system"/>
              </a:rPr>
              <a:t>Качественные методы оценки рисков </a:t>
            </a:r>
            <a:endParaRPr lang="ru-RU" sz="4400" b="1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504297-7C10-4A00-9FDA-7827B7DE3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400" b="1" dirty="0">
                <a:solidFill>
                  <a:schemeClr val="tx1"/>
                </a:solidFill>
                <a:effectLst/>
                <a:latin typeface="-apple-system"/>
              </a:rPr>
              <a:t>Качественные методы оценки рисков</a:t>
            </a:r>
            <a:r>
              <a:rPr lang="ru-RU" sz="2400" b="0" dirty="0">
                <a:solidFill>
                  <a:schemeClr val="tx1"/>
                </a:solidFill>
                <a:effectLst/>
                <a:latin typeface="-apple-system"/>
              </a:rPr>
              <a:t> помогают установить возможность возникновения определённого риска и области, откуда эти риски могут прийти. Для этого бизнесу не нужны точные статистические данные. </a:t>
            </a:r>
          </a:p>
          <a:p>
            <a:pPr algn="l"/>
            <a:r>
              <a:rPr lang="ru-RU" sz="2400" b="1" dirty="0">
                <a:solidFill>
                  <a:schemeClr val="tx1"/>
                </a:solidFill>
                <a:effectLst/>
                <a:latin typeface="-apple-system"/>
              </a:rPr>
              <a:t>Некоторые основные характеристики качественных методов</a:t>
            </a:r>
            <a:r>
              <a:rPr lang="ru-RU" sz="2400" b="0" dirty="0">
                <a:solidFill>
                  <a:schemeClr val="tx1"/>
                </a:solidFill>
                <a:effectLst/>
                <a:latin typeface="-apple-system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-apple-system"/>
              </a:rPr>
              <a:t> Оценка на основе опыта и экспертизы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. Используются методы распределения уровня риска, которые предлагают эксперты.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-apple-system"/>
              </a:rPr>
              <a:t> Субъективность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. Качественные методы могут быть субъективными.</a:t>
            </a:r>
          </a:p>
          <a:p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268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3120-7C75-49A6-BA0E-34288E41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dirty="0">
                <a:solidFill>
                  <a:schemeClr val="tx1"/>
                </a:solidFill>
                <a:effectLst/>
                <a:latin typeface="-apple-system"/>
              </a:rPr>
              <a:t>Количественные методы оценки рисков </a:t>
            </a:r>
            <a:endParaRPr lang="ru-RU" sz="4400" b="1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C68126-DD13-4415-A31E-C99508763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845734"/>
            <a:ext cx="11372850" cy="445981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2400" b="1" dirty="0">
                <a:solidFill>
                  <a:schemeClr val="tx1"/>
                </a:solidFill>
                <a:effectLst/>
                <a:latin typeface="-apple-system"/>
              </a:rPr>
              <a:t>Количественные методы оценки рисков</a:t>
            </a:r>
            <a:r>
              <a:rPr lang="ru-RU" sz="2400" b="0" dirty="0">
                <a:solidFill>
                  <a:schemeClr val="tx1"/>
                </a:solidFill>
                <a:effectLst/>
                <a:latin typeface="-apple-system"/>
              </a:rPr>
              <a:t> основаны на цифрах и помогают определить размер рисков, а также объективно оценить вероятность их наступления. </a:t>
            </a:r>
          </a:p>
          <a:p>
            <a:pPr algn="l"/>
            <a:r>
              <a:rPr lang="ru-RU" sz="2400" b="1" dirty="0">
                <a:solidFill>
                  <a:schemeClr val="tx1"/>
                </a:solidFill>
                <a:effectLst/>
                <a:latin typeface="-apple-system"/>
              </a:rPr>
              <a:t>Определение количественных методов</a:t>
            </a:r>
            <a:r>
              <a:rPr lang="ru-RU" sz="2400" b="0" dirty="0">
                <a:solidFill>
                  <a:schemeClr val="tx1"/>
                </a:solidFill>
                <a:effectLst/>
                <a:latin typeface="-apple-system"/>
              </a:rPr>
              <a:t>: с их помощью можно получить конкретные оценки вероятности наступления того или иного рискового события. Анализ является трудоёмким, однако более точным, часто используются современные математические модели и расчёты.</a:t>
            </a:r>
          </a:p>
          <a:p>
            <a:pPr algn="l"/>
            <a:r>
              <a:rPr lang="ru-RU" sz="2400" b="1" dirty="0">
                <a:solidFill>
                  <a:schemeClr val="tx1"/>
                </a:solidFill>
                <a:effectLst/>
                <a:latin typeface="-apple-system"/>
              </a:rPr>
              <a:t>Некоторые основные характеристики количественных методов</a:t>
            </a:r>
            <a:r>
              <a:rPr lang="ru-RU" sz="2400" b="0" dirty="0">
                <a:solidFill>
                  <a:schemeClr val="tx1"/>
                </a:solidFill>
                <a:effectLst/>
                <a:latin typeface="-apple-system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-apple-system"/>
              </a:rPr>
              <a:t> Числовое выражение рисков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: всем элементам оценки рисков присваивают конкретные и реальные количественные значения.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-apple-system"/>
              </a:rPr>
              <a:t> Использование статистических данных и моделей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: для выявления факторов риска и степени их воздействия могут быть использованы различные методы статистической обработки данных, в том числе корреляционный и дисперсионный анализы, анализ временных рядов, факторный анализ и другие.</a:t>
            </a:r>
          </a:p>
          <a:p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77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D201D-09D1-4F26-AD2D-579AEFA6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Применение методов анализа рисков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CEAC0-9DC5-433E-9B6F-9C390F108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ru-RU" sz="4800" dirty="0">
              <a:solidFill>
                <a:schemeClr val="tx1"/>
              </a:solidFill>
            </a:endParaRPr>
          </a:p>
          <a:p>
            <a:pPr algn="ctr"/>
            <a:endParaRPr lang="ru-RU" sz="4800" dirty="0">
              <a:solidFill>
                <a:schemeClr val="tx1"/>
              </a:solidFill>
            </a:endParaRPr>
          </a:p>
          <a:p>
            <a:pPr algn="ctr"/>
            <a:r>
              <a:rPr lang="en-US" sz="4800" dirty="0">
                <a:solidFill>
                  <a:schemeClr val="tx1"/>
                </a:solidFill>
              </a:rPr>
              <a:t>PEST</a:t>
            </a:r>
            <a:r>
              <a:rPr lang="ru-RU" sz="4800" dirty="0">
                <a:solidFill>
                  <a:schemeClr val="tx1"/>
                </a:solidFill>
              </a:rPr>
              <a:t>, </a:t>
            </a:r>
            <a:r>
              <a:rPr lang="en-US" sz="4800" dirty="0">
                <a:solidFill>
                  <a:schemeClr val="tx1"/>
                </a:solidFill>
              </a:rPr>
              <a:t>SWOT</a:t>
            </a:r>
            <a:r>
              <a:rPr lang="ru-RU" sz="4800" dirty="0">
                <a:solidFill>
                  <a:schemeClr val="tx1"/>
                </a:solidFill>
              </a:rPr>
              <a:t>, </a:t>
            </a:r>
            <a:r>
              <a:rPr lang="en-US" sz="4800" dirty="0">
                <a:solidFill>
                  <a:schemeClr val="tx1"/>
                </a:solidFill>
              </a:rPr>
              <a:t>SNW</a:t>
            </a:r>
            <a:r>
              <a:rPr lang="ru-RU" sz="4800" dirty="0">
                <a:solidFill>
                  <a:schemeClr val="tx1"/>
                </a:solidFill>
              </a:rPr>
              <a:t>, Диаграмма Исикавы </a:t>
            </a:r>
          </a:p>
        </p:txBody>
      </p:sp>
    </p:spTree>
    <p:extLst>
      <p:ext uri="{BB962C8B-B14F-4D97-AF65-F5344CB8AC3E}">
        <p14:creationId xmlns:p14="http://schemas.microsoft.com/office/powerpoint/2010/main" val="106742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7FE79-AB98-4268-A516-D25F5398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91" y="512300"/>
            <a:ext cx="5188624" cy="1831344"/>
          </a:xfrm>
        </p:spPr>
        <p:txBody>
          <a:bodyPr>
            <a:normAutofit/>
          </a:bodyPr>
          <a:lstStyle/>
          <a:p>
            <a:r>
              <a:rPr lang="ru-RU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PEST анализ</a:t>
            </a:r>
            <a:br>
              <a:rPr lang="ru-RU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25E943-C77A-478D-8E74-B038EC4AD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2855944"/>
            <a:ext cx="5609438" cy="33162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PEST анализ является аббревиатурой следующих показателей отрасли: политические (Р), экономические (Е), социально — культурные (S) и технологические (Т). 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9E1166-85D8-4F25-8741-ACC305788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5" r="17527" b="2"/>
          <a:stretch/>
        </p:blipFill>
        <p:spPr bwMode="auto">
          <a:xfrm>
            <a:off x="7629144" y="1682496"/>
            <a:ext cx="3502152" cy="3502152"/>
          </a:xfrm>
          <a:custGeom>
            <a:avLst/>
            <a:gdLst/>
            <a:ahLst/>
            <a:cxnLst/>
            <a:rect l="l" t="t" r="r" b="b"/>
            <a:pathLst>
              <a:path w="3502152" h="3502152">
                <a:moveTo>
                  <a:pt x="1751076" y="196996"/>
                </a:moveTo>
                <a:cubicBezTo>
                  <a:pt x="2609371" y="196996"/>
                  <a:pt x="3305156" y="892781"/>
                  <a:pt x="3305156" y="1751076"/>
                </a:cubicBezTo>
                <a:cubicBezTo>
                  <a:pt x="3305156" y="2609371"/>
                  <a:pt x="2609371" y="3305156"/>
                  <a:pt x="1751076" y="3305156"/>
                </a:cubicBezTo>
                <a:cubicBezTo>
                  <a:pt x="892781" y="3305156"/>
                  <a:pt x="196996" y="2609371"/>
                  <a:pt x="196996" y="1751076"/>
                </a:cubicBezTo>
                <a:cubicBezTo>
                  <a:pt x="196996" y="892781"/>
                  <a:pt x="892781" y="196996"/>
                  <a:pt x="1751076" y="196996"/>
                </a:cubicBezTo>
                <a:close/>
                <a:moveTo>
                  <a:pt x="1751076" y="153219"/>
                </a:moveTo>
                <a:cubicBezTo>
                  <a:pt x="868604" y="153219"/>
                  <a:pt x="153219" y="868604"/>
                  <a:pt x="153219" y="1751076"/>
                </a:cubicBezTo>
                <a:cubicBezTo>
                  <a:pt x="153219" y="2633548"/>
                  <a:pt x="868604" y="3348933"/>
                  <a:pt x="1751076" y="3348933"/>
                </a:cubicBezTo>
                <a:cubicBezTo>
                  <a:pt x="2633548" y="3348933"/>
                  <a:pt x="3348933" y="2633548"/>
                  <a:pt x="3348933" y="1751076"/>
                </a:cubicBezTo>
                <a:cubicBezTo>
                  <a:pt x="3348933" y="868604"/>
                  <a:pt x="2633548" y="153219"/>
                  <a:pt x="1751076" y="153219"/>
                </a:cubicBezTo>
                <a:close/>
                <a:moveTo>
                  <a:pt x="1751076" y="0"/>
                </a:moveTo>
                <a:cubicBezTo>
                  <a:pt x="2718169" y="0"/>
                  <a:pt x="3502152" y="783984"/>
                  <a:pt x="3502152" y="1751076"/>
                </a:cubicBezTo>
                <a:cubicBezTo>
                  <a:pt x="3502152" y="2718169"/>
                  <a:pt x="2718169" y="3502152"/>
                  <a:pt x="1751076" y="3502152"/>
                </a:cubicBezTo>
                <a:cubicBezTo>
                  <a:pt x="783983" y="3502152"/>
                  <a:pt x="0" y="2718169"/>
                  <a:pt x="0" y="1751076"/>
                </a:cubicBezTo>
                <a:cubicBezTo>
                  <a:pt x="0" y="783984"/>
                  <a:pt x="783983" y="0"/>
                  <a:pt x="175107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6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2FC80DB-9D31-4A2F-B48C-313AB73AF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2171700"/>
            <a:ext cx="5509426" cy="40004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 (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Political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— факторы политико-правового окружения компании. При анализе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политико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правового окружения отрасли, рынка или страны рекомендуется ответить на вопросы относительно ключевых изменений в области политической стабильности и правового регулирования.</a:t>
            </a:r>
          </a:p>
          <a:p>
            <a:pPr algn="just"/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9E5F425-1767-4B4F-A24C-8620D8CEE2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3" r="6198" b="1"/>
          <a:stretch/>
        </p:blipFill>
        <p:spPr bwMode="auto">
          <a:xfrm>
            <a:off x="7629144" y="1682496"/>
            <a:ext cx="3502152" cy="3502152"/>
          </a:xfrm>
          <a:custGeom>
            <a:avLst/>
            <a:gdLst/>
            <a:ahLst/>
            <a:cxnLst/>
            <a:rect l="l" t="t" r="r" b="b"/>
            <a:pathLst>
              <a:path w="3502152" h="3502152">
                <a:moveTo>
                  <a:pt x="1751076" y="196996"/>
                </a:moveTo>
                <a:cubicBezTo>
                  <a:pt x="2609371" y="196996"/>
                  <a:pt x="3305156" y="892781"/>
                  <a:pt x="3305156" y="1751076"/>
                </a:cubicBezTo>
                <a:cubicBezTo>
                  <a:pt x="3305156" y="2609371"/>
                  <a:pt x="2609371" y="3305156"/>
                  <a:pt x="1751076" y="3305156"/>
                </a:cubicBezTo>
                <a:cubicBezTo>
                  <a:pt x="892781" y="3305156"/>
                  <a:pt x="196996" y="2609371"/>
                  <a:pt x="196996" y="1751076"/>
                </a:cubicBezTo>
                <a:cubicBezTo>
                  <a:pt x="196996" y="892781"/>
                  <a:pt x="892781" y="196996"/>
                  <a:pt x="1751076" y="196996"/>
                </a:cubicBezTo>
                <a:close/>
                <a:moveTo>
                  <a:pt x="1751076" y="153219"/>
                </a:moveTo>
                <a:cubicBezTo>
                  <a:pt x="868604" y="153219"/>
                  <a:pt x="153219" y="868604"/>
                  <a:pt x="153219" y="1751076"/>
                </a:cubicBezTo>
                <a:cubicBezTo>
                  <a:pt x="153219" y="2633548"/>
                  <a:pt x="868604" y="3348933"/>
                  <a:pt x="1751076" y="3348933"/>
                </a:cubicBezTo>
                <a:cubicBezTo>
                  <a:pt x="2633548" y="3348933"/>
                  <a:pt x="3348933" y="2633548"/>
                  <a:pt x="3348933" y="1751076"/>
                </a:cubicBezTo>
                <a:cubicBezTo>
                  <a:pt x="3348933" y="868604"/>
                  <a:pt x="2633548" y="153219"/>
                  <a:pt x="1751076" y="153219"/>
                </a:cubicBezTo>
                <a:close/>
                <a:moveTo>
                  <a:pt x="1751076" y="0"/>
                </a:moveTo>
                <a:cubicBezTo>
                  <a:pt x="2718169" y="0"/>
                  <a:pt x="3502152" y="783984"/>
                  <a:pt x="3502152" y="1751076"/>
                </a:cubicBezTo>
                <a:cubicBezTo>
                  <a:pt x="3502152" y="2718169"/>
                  <a:pt x="2718169" y="3502152"/>
                  <a:pt x="1751076" y="3502152"/>
                </a:cubicBezTo>
                <a:cubicBezTo>
                  <a:pt x="783983" y="3502152"/>
                  <a:pt x="0" y="2718169"/>
                  <a:pt x="0" y="1751076"/>
                </a:cubicBezTo>
                <a:cubicBezTo>
                  <a:pt x="0" y="783984"/>
                  <a:pt x="783983" y="0"/>
                  <a:pt x="175107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237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666F225-FC32-4B55-9D66-CFDCD6174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374824"/>
            <a:ext cx="6491375" cy="4558371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 (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Economical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— факторы экономического состояния рынка. В ходе анализа данной группы факторов необходимо определить 6 ключевых параметров, характеризующих состояние экономики страны/ рынка, на котором функционирует компания.</a:t>
            </a:r>
          </a:p>
          <a:p>
            <a:pPr indent="0" algn="just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Динамика развития экономики — спад, рост, стагнация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Изменение курсов валют, стоимости капитала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Изменение уровня безработицы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Изменение уровня инфляции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Изменение располагаемого дохода на душу населения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Тенденции в банковской сфере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81A8AF8-6186-49EA-893A-1DF36CA39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1" r="13059"/>
          <a:stretch/>
        </p:blipFill>
        <p:spPr bwMode="auto">
          <a:xfrm>
            <a:off x="7629144" y="1682496"/>
            <a:ext cx="3502152" cy="3502152"/>
          </a:xfrm>
          <a:custGeom>
            <a:avLst/>
            <a:gdLst/>
            <a:ahLst/>
            <a:cxnLst/>
            <a:rect l="l" t="t" r="r" b="b"/>
            <a:pathLst>
              <a:path w="3502152" h="3502152">
                <a:moveTo>
                  <a:pt x="1751076" y="196996"/>
                </a:moveTo>
                <a:cubicBezTo>
                  <a:pt x="2609371" y="196996"/>
                  <a:pt x="3305156" y="892781"/>
                  <a:pt x="3305156" y="1751076"/>
                </a:cubicBezTo>
                <a:cubicBezTo>
                  <a:pt x="3305156" y="2609371"/>
                  <a:pt x="2609371" y="3305156"/>
                  <a:pt x="1751076" y="3305156"/>
                </a:cubicBezTo>
                <a:cubicBezTo>
                  <a:pt x="892781" y="3305156"/>
                  <a:pt x="196996" y="2609371"/>
                  <a:pt x="196996" y="1751076"/>
                </a:cubicBezTo>
                <a:cubicBezTo>
                  <a:pt x="196996" y="892781"/>
                  <a:pt x="892781" y="196996"/>
                  <a:pt x="1751076" y="196996"/>
                </a:cubicBezTo>
                <a:close/>
                <a:moveTo>
                  <a:pt x="1751076" y="153219"/>
                </a:moveTo>
                <a:cubicBezTo>
                  <a:pt x="868604" y="153219"/>
                  <a:pt x="153219" y="868604"/>
                  <a:pt x="153219" y="1751076"/>
                </a:cubicBezTo>
                <a:cubicBezTo>
                  <a:pt x="153219" y="2633548"/>
                  <a:pt x="868604" y="3348933"/>
                  <a:pt x="1751076" y="3348933"/>
                </a:cubicBezTo>
                <a:cubicBezTo>
                  <a:pt x="2633548" y="3348933"/>
                  <a:pt x="3348933" y="2633548"/>
                  <a:pt x="3348933" y="1751076"/>
                </a:cubicBezTo>
                <a:cubicBezTo>
                  <a:pt x="3348933" y="868604"/>
                  <a:pt x="2633548" y="153219"/>
                  <a:pt x="1751076" y="153219"/>
                </a:cubicBezTo>
                <a:close/>
                <a:moveTo>
                  <a:pt x="1751076" y="0"/>
                </a:moveTo>
                <a:cubicBezTo>
                  <a:pt x="2718169" y="0"/>
                  <a:pt x="3502152" y="783984"/>
                  <a:pt x="3502152" y="1751076"/>
                </a:cubicBezTo>
                <a:cubicBezTo>
                  <a:pt x="3502152" y="2718169"/>
                  <a:pt x="2718169" y="3502152"/>
                  <a:pt x="1751076" y="3502152"/>
                </a:cubicBezTo>
                <a:cubicBezTo>
                  <a:pt x="783983" y="3502152"/>
                  <a:pt x="0" y="2718169"/>
                  <a:pt x="0" y="1751076"/>
                </a:cubicBezTo>
                <a:cubicBezTo>
                  <a:pt x="0" y="783984"/>
                  <a:pt x="783983" y="0"/>
                  <a:pt x="175107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42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B2B84EE-31D7-473B-A759-5324C2CE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38" y="1497089"/>
            <a:ext cx="6101380" cy="4732592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 (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Socio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cultural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— факторы социального и культурного состояния рынка. В ходе анализа данной группы факторов необходимо описать 5 ключевых параметров:</a:t>
            </a:r>
          </a:p>
          <a:p>
            <a:pPr indent="0" algn="just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Изменение демографического состояния: движение населения (убыль или рост), поло-возрастная структура рынка, изменение расовой принадлежности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Уровень образованности населения, в том числе уровень квалифицированности кадров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Особенности менталитета, важные культурные ценности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Изменение социальных слоев населения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Изменение вкусов и предпочтений аудитории, устоявшиеся мифы и предубеждения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7027737-1CD4-436B-8E26-C94B02D6BC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3" r="45188" b="2"/>
          <a:stretch/>
        </p:blipFill>
        <p:spPr bwMode="auto">
          <a:xfrm>
            <a:off x="7629144" y="1682496"/>
            <a:ext cx="3502152" cy="3502152"/>
          </a:xfrm>
          <a:custGeom>
            <a:avLst/>
            <a:gdLst/>
            <a:ahLst/>
            <a:cxnLst/>
            <a:rect l="l" t="t" r="r" b="b"/>
            <a:pathLst>
              <a:path w="3502152" h="3502152">
                <a:moveTo>
                  <a:pt x="1751076" y="196996"/>
                </a:moveTo>
                <a:cubicBezTo>
                  <a:pt x="2609371" y="196996"/>
                  <a:pt x="3305156" y="892781"/>
                  <a:pt x="3305156" y="1751076"/>
                </a:cubicBezTo>
                <a:cubicBezTo>
                  <a:pt x="3305156" y="2609371"/>
                  <a:pt x="2609371" y="3305156"/>
                  <a:pt x="1751076" y="3305156"/>
                </a:cubicBezTo>
                <a:cubicBezTo>
                  <a:pt x="892781" y="3305156"/>
                  <a:pt x="196996" y="2609371"/>
                  <a:pt x="196996" y="1751076"/>
                </a:cubicBezTo>
                <a:cubicBezTo>
                  <a:pt x="196996" y="892781"/>
                  <a:pt x="892781" y="196996"/>
                  <a:pt x="1751076" y="196996"/>
                </a:cubicBezTo>
                <a:close/>
                <a:moveTo>
                  <a:pt x="1751076" y="153219"/>
                </a:moveTo>
                <a:cubicBezTo>
                  <a:pt x="868604" y="153219"/>
                  <a:pt x="153219" y="868604"/>
                  <a:pt x="153219" y="1751076"/>
                </a:cubicBezTo>
                <a:cubicBezTo>
                  <a:pt x="153219" y="2633548"/>
                  <a:pt x="868604" y="3348933"/>
                  <a:pt x="1751076" y="3348933"/>
                </a:cubicBezTo>
                <a:cubicBezTo>
                  <a:pt x="2633548" y="3348933"/>
                  <a:pt x="3348933" y="2633548"/>
                  <a:pt x="3348933" y="1751076"/>
                </a:cubicBezTo>
                <a:cubicBezTo>
                  <a:pt x="3348933" y="868604"/>
                  <a:pt x="2633548" y="153219"/>
                  <a:pt x="1751076" y="153219"/>
                </a:cubicBezTo>
                <a:close/>
                <a:moveTo>
                  <a:pt x="1751076" y="0"/>
                </a:moveTo>
                <a:cubicBezTo>
                  <a:pt x="2718169" y="0"/>
                  <a:pt x="3502152" y="783984"/>
                  <a:pt x="3502152" y="1751076"/>
                </a:cubicBezTo>
                <a:cubicBezTo>
                  <a:pt x="3502152" y="2718169"/>
                  <a:pt x="2718169" y="3502152"/>
                  <a:pt x="1751076" y="3502152"/>
                </a:cubicBezTo>
                <a:cubicBezTo>
                  <a:pt x="783983" y="3502152"/>
                  <a:pt x="0" y="2718169"/>
                  <a:pt x="0" y="1751076"/>
                </a:cubicBezTo>
                <a:cubicBezTo>
                  <a:pt x="0" y="783984"/>
                  <a:pt x="783983" y="0"/>
                  <a:pt x="175107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569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74A69D6-9E7E-4D7A-9CDA-B8D85CC69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919" y="561976"/>
            <a:ext cx="6372225" cy="5614988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 (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Technological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— факторы, характеризующие технологический прогресс в отрасли. Данная группа факторов требует детального анализа, так как в эпоху технологического процесса именно изменение в технологии может кардинально изменить устоявшееся состояние рынка.</a:t>
            </a:r>
          </a:p>
          <a:p>
            <a:pPr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ходе анализа технологических факторов необходимо обратить внимание на 4 параметра:</a:t>
            </a:r>
          </a:p>
          <a:p>
            <a:pPr indent="0" algn="just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Возможные изменения в ключевых технологиях, используемых на рынке (инновации в оборудовании, материалах, в бизнес-моделях и методах ведения бизнеса)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Влияние интернет на развитие рынка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Влияние мобильных технологий на развитие рынка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Инновации в информационных технологиях, позволяющих более эффективно конкурировать на рынке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E9FD238-AF5B-4E29-9CC2-F5954AD266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51" b="1"/>
          <a:stretch/>
        </p:blipFill>
        <p:spPr bwMode="auto">
          <a:xfrm>
            <a:off x="7629144" y="1682496"/>
            <a:ext cx="3502152" cy="3502152"/>
          </a:xfrm>
          <a:custGeom>
            <a:avLst/>
            <a:gdLst/>
            <a:ahLst/>
            <a:cxnLst/>
            <a:rect l="l" t="t" r="r" b="b"/>
            <a:pathLst>
              <a:path w="3502152" h="3502152">
                <a:moveTo>
                  <a:pt x="1751076" y="196996"/>
                </a:moveTo>
                <a:cubicBezTo>
                  <a:pt x="2609371" y="196996"/>
                  <a:pt x="3305156" y="892781"/>
                  <a:pt x="3305156" y="1751076"/>
                </a:cubicBezTo>
                <a:cubicBezTo>
                  <a:pt x="3305156" y="2609371"/>
                  <a:pt x="2609371" y="3305156"/>
                  <a:pt x="1751076" y="3305156"/>
                </a:cubicBezTo>
                <a:cubicBezTo>
                  <a:pt x="892781" y="3305156"/>
                  <a:pt x="196996" y="2609371"/>
                  <a:pt x="196996" y="1751076"/>
                </a:cubicBezTo>
                <a:cubicBezTo>
                  <a:pt x="196996" y="892781"/>
                  <a:pt x="892781" y="196996"/>
                  <a:pt x="1751076" y="196996"/>
                </a:cubicBezTo>
                <a:close/>
                <a:moveTo>
                  <a:pt x="1751076" y="153219"/>
                </a:moveTo>
                <a:cubicBezTo>
                  <a:pt x="868604" y="153219"/>
                  <a:pt x="153219" y="868604"/>
                  <a:pt x="153219" y="1751076"/>
                </a:cubicBezTo>
                <a:cubicBezTo>
                  <a:pt x="153219" y="2633548"/>
                  <a:pt x="868604" y="3348933"/>
                  <a:pt x="1751076" y="3348933"/>
                </a:cubicBezTo>
                <a:cubicBezTo>
                  <a:pt x="2633548" y="3348933"/>
                  <a:pt x="3348933" y="2633548"/>
                  <a:pt x="3348933" y="1751076"/>
                </a:cubicBezTo>
                <a:cubicBezTo>
                  <a:pt x="3348933" y="868604"/>
                  <a:pt x="2633548" y="153219"/>
                  <a:pt x="1751076" y="153219"/>
                </a:cubicBezTo>
                <a:close/>
                <a:moveTo>
                  <a:pt x="1751076" y="0"/>
                </a:moveTo>
                <a:cubicBezTo>
                  <a:pt x="2718169" y="0"/>
                  <a:pt x="3502152" y="783984"/>
                  <a:pt x="3502152" y="1751076"/>
                </a:cubicBezTo>
                <a:cubicBezTo>
                  <a:pt x="3502152" y="2718169"/>
                  <a:pt x="2718169" y="3502152"/>
                  <a:pt x="1751076" y="3502152"/>
                </a:cubicBezTo>
                <a:cubicBezTo>
                  <a:pt x="783983" y="3502152"/>
                  <a:pt x="0" y="2718169"/>
                  <a:pt x="0" y="1751076"/>
                </a:cubicBezTo>
                <a:cubicBezTo>
                  <a:pt x="0" y="783984"/>
                  <a:pt x="783983" y="0"/>
                  <a:pt x="175107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685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D3D81-7567-40CD-ABAD-2553EEE60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519" y="720071"/>
            <a:ext cx="3970877" cy="34926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chemeClr val="tx1"/>
                </a:solidFill>
                <a:effectLst/>
              </a:rPr>
              <a:t>SWOT </a:t>
            </a:r>
            <a:r>
              <a:rPr lang="en-US" sz="6000" b="1" dirty="0" err="1">
                <a:solidFill>
                  <a:schemeClr val="tx1"/>
                </a:solidFill>
                <a:effectLst/>
              </a:rPr>
              <a:t>анализ</a:t>
            </a:r>
            <a:r>
              <a:rPr lang="en-US" sz="6000" dirty="0">
                <a:solidFill>
                  <a:schemeClr val="tx1"/>
                </a:solidFill>
                <a:effectLst/>
              </a:rPr>
              <a:t/>
            </a:r>
            <a:br>
              <a:rPr lang="en-US" sz="6000" dirty="0">
                <a:solidFill>
                  <a:schemeClr val="tx1"/>
                </a:solidFill>
                <a:effectLst/>
              </a:rPr>
            </a:br>
            <a:endParaRPr lang="en-US" sz="6000" dirty="0">
              <a:solidFill>
                <a:schemeClr val="tx1"/>
              </a:solidFill>
            </a:endParaRPr>
          </a:p>
        </p:txBody>
      </p:sp>
      <p:pic>
        <p:nvPicPr>
          <p:cNvPr id="8194" name="Picture 2" descr="Изображение выглядит как документ, мышь, рабочий стол&#10;&#10;Автоматически созданное описание">
            <a:extLst>
              <a:ext uri="{FF2B5EF4-FFF2-40B4-BE49-F238E27FC236}">
                <a16:creationId xmlns:a16="http://schemas.microsoft.com/office/drawing/2014/main" id="{EA71354A-8301-4839-8224-D44488CB26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73" r="2277"/>
          <a:stretch/>
        </p:blipFill>
        <p:spPr bwMode="auto">
          <a:xfrm>
            <a:off x="643467" y="720071"/>
            <a:ext cx="5503939" cy="5503939"/>
          </a:xfrm>
          <a:custGeom>
            <a:avLst/>
            <a:gdLst/>
            <a:ahLst/>
            <a:cxnLst/>
            <a:rect l="l" t="t" r="r" b="b"/>
            <a:pathLst>
              <a:path w="3051400" h="3051400">
                <a:moveTo>
                  <a:pt x="1525700" y="171641"/>
                </a:moveTo>
                <a:cubicBezTo>
                  <a:pt x="2273526" y="171641"/>
                  <a:pt x="2879759" y="777874"/>
                  <a:pt x="2879759" y="1525700"/>
                </a:cubicBezTo>
                <a:cubicBezTo>
                  <a:pt x="2879759" y="2273526"/>
                  <a:pt x="2273526" y="2879759"/>
                  <a:pt x="1525700" y="2879759"/>
                </a:cubicBezTo>
                <a:cubicBezTo>
                  <a:pt x="777874" y="2879759"/>
                  <a:pt x="171641" y="2273526"/>
                  <a:pt x="171641" y="1525700"/>
                </a:cubicBezTo>
                <a:cubicBezTo>
                  <a:pt x="171641" y="777874"/>
                  <a:pt x="777874" y="171641"/>
                  <a:pt x="1525700" y="171641"/>
                </a:cubicBezTo>
                <a:close/>
                <a:moveTo>
                  <a:pt x="1525700" y="133499"/>
                </a:moveTo>
                <a:cubicBezTo>
                  <a:pt x="756809" y="133499"/>
                  <a:pt x="133499" y="756809"/>
                  <a:pt x="133499" y="1525700"/>
                </a:cubicBezTo>
                <a:cubicBezTo>
                  <a:pt x="133499" y="2294591"/>
                  <a:pt x="756809" y="2917901"/>
                  <a:pt x="1525700" y="2917901"/>
                </a:cubicBezTo>
                <a:cubicBezTo>
                  <a:pt x="2294591" y="2917901"/>
                  <a:pt x="2917901" y="2294591"/>
                  <a:pt x="2917901" y="1525700"/>
                </a:cubicBezTo>
                <a:cubicBezTo>
                  <a:pt x="2917901" y="756809"/>
                  <a:pt x="2294591" y="133499"/>
                  <a:pt x="1525700" y="133499"/>
                </a:cubicBezTo>
                <a:close/>
                <a:moveTo>
                  <a:pt x="1525700" y="0"/>
                </a:moveTo>
                <a:cubicBezTo>
                  <a:pt x="2368321" y="0"/>
                  <a:pt x="3051400" y="683079"/>
                  <a:pt x="3051400" y="1525700"/>
                </a:cubicBezTo>
                <a:cubicBezTo>
                  <a:pt x="3051400" y="2368321"/>
                  <a:pt x="2368321" y="3051400"/>
                  <a:pt x="1525700" y="3051400"/>
                </a:cubicBezTo>
                <a:cubicBezTo>
                  <a:pt x="683079" y="3051400"/>
                  <a:pt x="0" y="2368321"/>
                  <a:pt x="0" y="1525700"/>
                </a:cubicBezTo>
                <a:cubicBezTo>
                  <a:pt x="0" y="683079"/>
                  <a:pt x="683079" y="0"/>
                  <a:pt x="152570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51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8E89937-8A1F-43AA-968A-A765749424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2" r="2" b="2"/>
          <a:stretch/>
        </p:blipFill>
        <p:spPr bwMode="auto">
          <a:xfrm>
            <a:off x="786400" y="886363"/>
            <a:ext cx="5571428" cy="450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1E7E0580-4EA3-458E-81CE-EEC976F72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4175" y="2295525"/>
            <a:ext cx="3819524" cy="3676112"/>
          </a:xfrm>
        </p:spPr>
        <p:txBody>
          <a:bodyPr>
            <a:normAutofit/>
          </a:bodyPr>
          <a:lstStyle/>
          <a:p>
            <a:pPr indent="0" algn="just"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SWOT анализ — это один из самых распространенных и простых в использовании видов анализа бизнеса. С его помощью можно выявить внутренние и внешние факторы, влияющие на успех компании.</a:t>
            </a:r>
          </a:p>
          <a:p>
            <a:pPr indent="0" algn="just"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SWOT анализ бизнеса позволяет оценить деятельность компании по четырем факторам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348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2980686-2739-4D99-BCBE-32288466B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157288"/>
            <a:ext cx="6391554" cy="5014912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 —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strength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(сильные стороны). Конкурентные преимущества вашего предприятия. Например,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низкая себестоимость производства,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высокие KPI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-рассылок.</a:t>
            </a:r>
          </a:p>
          <a:p>
            <a:pPr marL="0" lvl="0" indent="0" algn="just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 —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weakness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(слабые стороны). Внутренние факторы, которые затрудняют рост бизнеса, снижают вашу конкурентоспособность. Например,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недостаточное количество сотрудников поддержки,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отсутствие настроенных триггерных рассылок,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высокая стоимость привлечения клиента.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0EA060E-A88B-4EE4-8302-DC546AFA3A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64" r="28036" b="1"/>
          <a:stretch/>
        </p:blipFill>
        <p:spPr bwMode="auto">
          <a:xfrm>
            <a:off x="7629144" y="1682496"/>
            <a:ext cx="3502152" cy="3502152"/>
          </a:xfrm>
          <a:custGeom>
            <a:avLst/>
            <a:gdLst/>
            <a:ahLst/>
            <a:cxnLst/>
            <a:rect l="l" t="t" r="r" b="b"/>
            <a:pathLst>
              <a:path w="3502152" h="3502152">
                <a:moveTo>
                  <a:pt x="1751076" y="196996"/>
                </a:moveTo>
                <a:cubicBezTo>
                  <a:pt x="2609371" y="196996"/>
                  <a:pt x="3305156" y="892781"/>
                  <a:pt x="3305156" y="1751076"/>
                </a:cubicBezTo>
                <a:cubicBezTo>
                  <a:pt x="3305156" y="2609371"/>
                  <a:pt x="2609371" y="3305156"/>
                  <a:pt x="1751076" y="3305156"/>
                </a:cubicBezTo>
                <a:cubicBezTo>
                  <a:pt x="892781" y="3305156"/>
                  <a:pt x="196996" y="2609371"/>
                  <a:pt x="196996" y="1751076"/>
                </a:cubicBezTo>
                <a:cubicBezTo>
                  <a:pt x="196996" y="892781"/>
                  <a:pt x="892781" y="196996"/>
                  <a:pt x="1751076" y="196996"/>
                </a:cubicBezTo>
                <a:close/>
                <a:moveTo>
                  <a:pt x="1751076" y="153219"/>
                </a:moveTo>
                <a:cubicBezTo>
                  <a:pt x="868604" y="153219"/>
                  <a:pt x="153219" y="868604"/>
                  <a:pt x="153219" y="1751076"/>
                </a:cubicBezTo>
                <a:cubicBezTo>
                  <a:pt x="153219" y="2633548"/>
                  <a:pt x="868604" y="3348933"/>
                  <a:pt x="1751076" y="3348933"/>
                </a:cubicBezTo>
                <a:cubicBezTo>
                  <a:pt x="2633548" y="3348933"/>
                  <a:pt x="3348933" y="2633548"/>
                  <a:pt x="3348933" y="1751076"/>
                </a:cubicBezTo>
                <a:cubicBezTo>
                  <a:pt x="3348933" y="868604"/>
                  <a:pt x="2633548" y="153219"/>
                  <a:pt x="1751076" y="153219"/>
                </a:cubicBezTo>
                <a:close/>
                <a:moveTo>
                  <a:pt x="1751076" y="0"/>
                </a:moveTo>
                <a:cubicBezTo>
                  <a:pt x="2718169" y="0"/>
                  <a:pt x="3502152" y="783984"/>
                  <a:pt x="3502152" y="1751076"/>
                </a:cubicBezTo>
                <a:cubicBezTo>
                  <a:pt x="3502152" y="2718169"/>
                  <a:pt x="2718169" y="3502152"/>
                  <a:pt x="1751076" y="3502152"/>
                </a:cubicBezTo>
                <a:cubicBezTo>
                  <a:pt x="783983" y="3502152"/>
                  <a:pt x="0" y="2718169"/>
                  <a:pt x="0" y="1751076"/>
                </a:cubicBezTo>
                <a:cubicBezTo>
                  <a:pt x="0" y="783984"/>
                  <a:pt x="783983" y="0"/>
                  <a:pt x="175107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763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4C73C8C-F196-4690-BF02-EAD8A9A9B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822" y="985837"/>
            <a:ext cx="6248678" cy="4886325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 —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(возможности). Внешние факторы, которые могут положительно сказаться на росте бизнеса. Например,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улучшение позиций сайта в органической поисковой выдаче,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«уход» конкурента с рынка.</a:t>
            </a:r>
          </a:p>
          <a:p>
            <a:pPr marL="0" lvl="0" indent="0" algn="just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 —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threats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(угрозы). Негативные внешние факторы, которые могут отрицательно сказаться на дальнейшем развитии предприятия. Например,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уменьшение размера рынка,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выход на рынок крупного конкурента с большим количеством преимуществ,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-342900" algn="just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ужесточение условий ведения бизнеса со стороны государственного регулятора.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3D92D4C-4E0A-4307-AF02-E51965F89C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7" r="22025" b="3"/>
          <a:stretch/>
        </p:blipFill>
        <p:spPr bwMode="auto">
          <a:xfrm>
            <a:off x="7629144" y="1682496"/>
            <a:ext cx="3502152" cy="3502152"/>
          </a:xfrm>
          <a:custGeom>
            <a:avLst/>
            <a:gdLst/>
            <a:ahLst/>
            <a:cxnLst/>
            <a:rect l="l" t="t" r="r" b="b"/>
            <a:pathLst>
              <a:path w="3502152" h="3502152">
                <a:moveTo>
                  <a:pt x="1751076" y="196996"/>
                </a:moveTo>
                <a:cubicBezTo>
                  <a:pt x="2609371" y="196996"/>
                  <a:pt x="3305156" y="892781"/>
                  <a:pt x="3305156" y="1751076"/>
                </a:cubicBezTo>
                <a:cubicBezTo>
                  <a:pt x="3305156" y="2609371"/>
                  <a:pt x="2609371" y="3305156"/>
                  <a:pt x="1751076" y="3305156"/>
                </a:cubicBezTo>
                <a:cubicBezTo>
                  <a:pt x="892781" y="3305156"/>
                  <a:pt x="196996" y="2609371"/>
                  <a:pt x="196996" y="1751076"/>
                </a:cubicBezTo>
                <a:cubicBezTo>
                  <a:pt x="196996" y="892781"/>
                  <a:pt x="892781" y="196996"/>
                  <a:pt x="1751076" y="196996"/>
                </a:cubicBezTo>
                <a:close/>
                <a:moveTo>
                  <a:pt x="1751076" y="153219"/>
                </a:moveTo>
                <a:cubicBezTo>
                  <a:pt x="868604" y="153219"/>
                  <a:pt x="153219" y="868604"/>
                  <a:pt x="153219" y="1751076"/>
                </a:cubicBezTo>
                <a:cubicBezTo>
                  <a:pt x="153219" y="2633548"/>
                  <a:pt x="868604" y="3348933"/>
                  <a:pt x="1751076" y="3348933"/>
                </a:cubicBezTo>
                <a:cubicBezTo>
                  <a:pt x="2633548" y="3348933"/>
                  <a:pt x="3348933" y="2633548"/>
                  <a:pt x="3348933" y="1751076"/>
                </a:cubicBezTo>
                <a:cubicBezTo>
                  <a:pt x="3348933" y="868604"/>
                  <a:pt x="2633548" y="153219"/>
                  <a:pt x="1751076" y="153219"/>
                </a:cubicBezTo>
                <a:close/>
                <a:moveTo>
                  <a:pt x="1751076" y="0"/>
                </a:moveTo>
                <a:cubicBezTo>
                  <a:pt x="2718169" y="0"/>
                  <a:pt x="3502152" y="783984"/>
                  <a:pt x="3502152" y="1751076"/>
                </a:cubicBezTo>
                <a:cubicBezTo>
                  <a:pt x="3502152" y="2718169"/>
                  <a:pt x="2718169" y="3502152"/>
                  <a:pt x="1751076" y="3502152"/>
                </a:cubicBezTo>
                <a:cubicBezTo>
                  <a:pt x="783983" y="3502152"/>
                  <a:pt x="0" y="2718169"/>
                  <a:pt x="0" y="1751076"/>
                </a:cubicBezTo>
                <a:cubicBezTo>
                  <a:pt x="0" y="783984"/>
                  <a:pt x="783983" y="0"/>
                  <a:pt x="175107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70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490065-71FA-A480-3B07-D11DBAA1D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102" y="1432223"/>
            <a:ext cx="2818417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4200" b="1" dirty="0" err="1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Матрица</a:t>
            </a:r>
            <a:r>
              <a:rPr lang="en-US" sz="4200" b="1" dirty="0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 </a:t>
            </a:r>
            <a:r>
              <a:rPr lang="en-US" sz="4200" b="1" dirty="0" err="1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второго</a:t>
            </a:r>
            <a:r>
              <a:rPr lang="en-US" sz="4200" b="1" dirty="0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 </a:t>
            </a:r>
            <a:r>
              <a:rPr lang="en-US" sz="4200" b="1" dirty="0" err="1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этапа</a:t>
            </a:r>
            <a:r>
              <a:rPr lang="en-US" sz="4200" b="1" dirty="0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 SWOT-</a:t>
            </a:r>
            <a:r>
              <a:rPr lang="en-US" sz="4200" b="1" dirty="0" err="1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анализа</a:t>
            </a:r>
            <a:endParaRPr lang="en-US" sz="4200" b="1" dirty="0">
              <a:blipFill dpi="0" rotWithShape="1">
                <a:blip r:embed="rId2"/>
                <a:srcRect/>
                <a:tile tx="6350" ty="-127000" sx="65000" sy="64000" flip="none" algn="tl"/>
              </a:blipFill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BDD3BE6-E809-4CD7-54CB-EC2E5C33016C}"/>
              </a:ext>
            </a:extLst>
          </p:cNvPr>
          <p:cNvGraphicFramePr>
            <a:graphicFrameLocks noGrp="1"/>
          </p:cNvGraphicFramePr>
          <p:nvPr/>
        </p:nvGraphicFramePr>
        <p:xfrm>
          <a:off x="965325" y="520477"/>
          <a:ext cx="6631745" cy="5621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4049">
                  <a:extLst>
                    <a:ext uri="{9D8B030D-6E8A-4147-A177-3AD203B41FA5}">
                      <a16:colId xmlns:a16="http://schemas.microsoft.com/office/drawing/2014/main" val="542938415"/>
                    </a:ext>
                  </a:extLst>
                </a:gridCol>
                <a:gridCol w="2248848">
                  <a:extLst>
                    <a:ext uri="{9D8B030D-6E8A-4147-A177-3AD203B41FA5}">
                      <a16:colId xmlns:a16="http://schemas.microsoft.com/office/drawing/2014/main" val="1633594726"/>
                    </a:ext>
                  </a:extLst>
                </a:gridCol>
                <a:gridCol w="2248848">
                  <a:extLst>
                    <a:ext uri="{9D8B030D-6E8A-4147-A177-3AD203B41FA5}">
                      <a16:colId xmlns:a16="http://schemas.microsoft.com/office/drawing/2014/main" val="813428264"/>
                    </a:ext>
                  </a:extLst>
                </a:gridCol>
              </a:tblGrid>
              <a:tr h="13262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623" marR="5662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Фактор 1.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Фактор 2.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Фактор 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623" marR="5662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Фактор 1.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Фактор 2.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Фактор 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623" marR="56623" marT="0" marB="0"/>
                </a:tc>
                <a:extLst>
                  <a:ext uri="{0D108BD9-81ED-4DB2-BD59-A6C34878D82A}">
                    <a16:rowId xmlns:a16="http://schemas.microsoft.com/office/drawing/2014/main" val="55188030"/>
                  </a:ext>
                </a:extLst>
              </a:tr>
              <a:tr h="13262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Фактор 1.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Фактор 2.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Фактор 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623" marR="5662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Сочетание сильных сторон и возможностей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623" marR="5662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Противопоставление сильных сторон и угроз внешней среды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623" marR="56623" marT="0" marB="0"/>
                </a:tc>
                <a:extLst>
                  <a:ext uri="{0D108BD9-81ED-4DB2-BD59-A6C34878D82A}">
                    <a16:rowId xmlns:a16="http://schemas.microsoft.com/office/drawing/2014/main" val="3450041362"/>
                  </a:ext>
                </a:extLst>
              </a:tr>
              <a:tr h="13262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Фактор 1.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Фактор 2.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Фактор 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623" marR="5662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Противопоставление слабых сторон и возможностей внешней среды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623" marR="5662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WT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Сочетание слабых сторон и угроз.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623" marR="56623" marT="0" marB="0"/>
                </a:tc>
                <a:extLst>
                  <a:ext uri="{0D108BD9-81ED-4DB2-BD59-A6C34878D82A}">
                    <a16:rowId xmlns:a16="http://schemas.microsoft.com/office/drawing/2014/main" val="313735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397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AFF89-EAE4-63F9-5279-744D5C29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102" y="1432223"/>
            <a:ext cx="2818417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2400" b="1" dirty="0" err="1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матриц</a:t>
            </a:r>
            <a:r>
              <a:rPr lang="ru-RU" sz="2400" b="1" dirty="0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а</a:t>
            </a:r>
            <a:r>
              <a:rPr lang="en-US" sz="2400" b="1" dirty="0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 </a:t>
            </a:r>
            <a:r>
              <a:rPr lang="en-US" sz="2400" b="1" dirty="0" err="1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ранжирования</a:t>
            </a:r>
            <a:r>
              <a:rPr lang="en-US" sz="2400" b="1" dirty="0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 </a:t>
            </a:r>
            <a:r>
              <a:rPr lang="en-US" sz="2400" b="1" dirty="0" err="1">
                <a:blipFill dpi="0" rotWithShape="1">
                  <a:blip r:embed="rId2"/>
                  <a:srcRect/>
                  <a:tile tx="6350" ty="-127000" sx="65000" sy="64000" flip="none" algn="tl"/>
                </a:blipFill>
                <a:effectLst/>
              </a:rPr>
              <a:t>рисков</a:t>
            </a:r>
            <a:endParaRPr lang="en-US" sz="2400" b="1" dirty="0">
              <a:blipFill dpi="0" rotWithShape="1">
                <a:blip r:embed="rId2"/>
                <a:srcRect/>
                <a:tile tx="6350" ty="-127000" sx="65000" sy="64000" flip="none" algn="tl"/>
              </a:blip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CB1853-1412-AFD0-622F-7110826E6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3730" y="1158514"/>
            <a:ext cx="7353800" cy="45409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99998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C47A2-BAD2-4E6A-BF95-63E94D25A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SNW-анализ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9E3AC4-1E88-4454-907C-2ABD397F5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1825625"/>
            <a:ext cx="11830050" cy="4927600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SNW-анализ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 </a:t>
            </a: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способ оценки внутренних факторов, влияющих на функционирование компании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При нём оценивается состояние организационной структуры, а также производство, работа маркетинговых, логистических служб и других направлений. 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Аббревиатура SNW расшифровывается так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 </a:t>
            </a: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сильные стороны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компании, которые могут проявляться в некоторых частях или направлениях её деятельности. К ним относятся: доля рынка, качество товара, конкурентные преимущества.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</a:t>
            </a: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нейтральные значения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Это стабильные моменты. Например, сооружения и здания, принадлежащие компании, её оборудование, основные фонды. При этом эффективность использования каждого ресурса оценивается отдельно.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</a:t>
            </a: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слабые стороны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или уязвимые места, существующие, потенциальные риски, проблемы компании. В данном сегменте важно выявить недостатки, оказывающие прямое влияние на её состояние. 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406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E27438-F57E-4B85-924B-A47DCFD6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SNW-анализ позволяет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B41BA-76D4-433B-B0CF-85E737544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577974"/>
            <a:ext cx="11953875" cy="5032375"/>
          </a:xfrm>
        </p:spPr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сравнить компанию с другими брендами на рынке и выявить её конкурентные преимущества;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найти слабые стороны в системе внутренних коммуникаций предприятия и разработать план их устранения;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место компании на рынке и разработать систему позиционирования;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 точки роста за счёт усовершенствования сильных сторон и развития слабых;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возможность и перспективы масштабирования и запуска новых производственных мощностей, товарных линеек, филиалов. </a:t>
            </a:r>
            <a:endParaRPr lang="en-US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проведения SNW-анализа необходимо выполнить следующие шаги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факторы для оценки. 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Рассчитать средние значения по рынку. 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компанию по каждому фактору. 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выводы, составив список рекомендаций. 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923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8814640-9C26-4734-B56D-CFC1429EC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63" y="-29684"/>
            <a:ext cx="11739862" cy="879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174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B4368-C5B9-4C8A-91E3-0DFA6590F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Исикавы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DD2BC2-9129-4E98-B1E7-C4035D235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649075" cy="479425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Исикавы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графический способ исследования и определения наиболее существенных причинно-следственных взаимосвязей между факторами и последствиями в исследуемой ситуации или проблеме. </a:t>
            </a:r>
          </a:p>
          <a:p>
            <a:pPr marL="0" indent="0" algn="l">
              <a:buNone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 диаграммы напоминает рыбий скелет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где рёбра символизируют различные причины, которые ведут к основной проблеме. </a:t>
            </a:r>
          </a:p>
          <a:p>
            <a:pPr marL="0" indent="0" algn="l">
              <a:buNone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Исикавы помогает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анализировать проблемы и определять их корни;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искать способы решения сложных ситуаций и убирать их последствия;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предотвращать повторение ошибок;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улучшать бизнес-процессы. 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572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F7F79-3151-4495-B5D7-270B1B685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Факторы диаграммы Исикавы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EE12F2-C733-4840-913F-208DC79A1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825624"/>
            <a:ext cx="11315700" cy="478472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классической диаграмме Исикавы представлено шесть основных факторов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способных стать причиной возникновения проблем: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Люди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сотрудники и все, кто участвует в процессе.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Оборудование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все машины и техника, используемые в работе.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Материалы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всё, что используется в процессе производства или выполнения работы.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это процедуры и инструкции, которыми руководствуются при работе.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Измерения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различные метрики для контроля качества и количества.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Окружающая среда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влияние природы и других внешних условий. 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138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942AB7E-FE21-4036-95D7-44382E317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" y="482896"/>
            <a:ext cx="12027216" cy="559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959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9E695-239C-4413-86EB-400E5892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диаграммой Исикавы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16C010-14A2-44D7-A03D-BA69CF87E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825624"/>
            <a:ext cx="11763375" cy="489902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диаграммой Исикавы проводится в несколько этапов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и сбор всех факторов и причин, каким-либо образом влияющих на исследуемый результат.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Группировка факторов по смысловым и причинно-следственным блокам.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Ранжирование этих факторов внутри каждого блока.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полученной картины.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«Освобождение» факторов, на которые нельзя влиять. 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Диаграмму Исикавы рекомендуется использовать при построении программы управления качеством, структурировании бизнес-процессов компании, выявлении и устранении производственных дефектов, сбоев в работе, выяснении проблем в продвижении и продажах, причинах срывов заказов, минимизации рисков при бизнес-планировании, запуске новых проектов или продуктов. 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051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62630-7E37-4325-BE66-ACD8D7E3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72300" cy="1325563"/>
          </a:xfrm>
        </p:spPr>
        <p:txBody>
          <a:bodyPr/>
          <a:lstStyle/>
          <a:p>
            <a:pPr algn="ctr"/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Расчёт потенциальных убытков может проводиться в разных ситуациях и с использованием различных методов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50F204-4710-4F43-A077-F22546000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25624"/>
            <a:ext cx="11791950" cy="4851401"/>
          </a:xfrm>
        </p:spPr>
        <p:txBody>
          <a:bodyPr>
            <a:normAutofit fontScale="92500"/>
          </a:bodyPr>
          <a:lstStyle/>
          <a:p>
            <a:pPr indent="180340" algn="just"/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расчёта потенциальных убытков по договорам перестрахования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можно обратиться к аудиторско-консалтинговой фирме, которая проведёт независимый расчёт на основании данных об убытках и премиях. Также фирма предоставит информацию о факторах, которые могут повлиять на оценку как в большую, так и в меньшую сторону.  </a:t>
            </a:r>
          </a:p>
          <a:p>
            <a:pPr indent="180340" algn="just"/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банковском секторе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для расчёта ожидаемых убытков по портфелям аналогичных кредитов используется формула: 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ожидаемый убыток = вероятность дефолта (PD) × убыток при дефолте (LGD) × риск дефолта (EAD)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Например, если вероятность дефолта (PD) — 2%, убыток при дефолте (LGD) — 40%, а общий риск портфеля — 10 000 000 долларов США, то ожидаемый убыток (EL) составит 80 000 долларов в год (2% × 40% × 10 000 000 долларов США).  </a:t>
            </a:r>
          </a:p>
          <a:p>
            <a:pPr indent="180340" algn="just">
              <a:spcAft>
                <a:spcPts val="600"/>
              </a:spcAf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расчёта упущенной выгоды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можно использовать универсальную формулу: 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упущенная выгода = потенциальный доход — потенциальные расходы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Помимо расчёта дохода, который не получен, нужно учесть затраты, которые бы понеслись при получении дохода: налоговые платежи, зарплата, оплата коммунальных услуг, выплаты контрагентам. </a:t>
            </a: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02131193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50</TotalTime>
  <Words>608</Words>
  <Application>Microsoft Office PowerPoint</Application>
  <PresentationFormat>Широкоэкранный</PresentationFormat>
  <Paragraphs>146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SimSun</vt:lpstr>
      <vt:lpstr>-apple-system</vt:lpstr>
      <vt:lpstr>Arial</vt:lpstr>
      <vt:lpstr>Calibri</vt:lpstr>
      <vt:lpstr>Calibri Light</vt:lpstr>
      <vt:lpstr>Symbol</vt:lpstr>
      <vt:lpstr>Times New Roman</vt:lpstr>
      <vt:lpstr>Ретро</vt:lpstr>
      <vt:lpstr>Оценка и анализ бизнес-рисков</vt:lpstr>
      <vt:lpstr>задачи анализа бизнес-рисков</vt:lpstr>
      <vt:lpstr>Качественные методы оценки рисков </vt:lpstr>
      <vt:lpstr>Количественные методы оценки рисков </vt:lpstr>
      <vt:lpstr>Применение методов анализа рисков</vt:lpstr>
      <vt:lpstr>PEST анализ </vt:lpstr>
      <vt:lpstr>Презентация PowerPoint</vt:lpstr>
      <vt:lpstr>Презентация PowerPoint</vt:lpstr>
      <vt:lpstr>Презентация PowerPoint</vt:lpstr>
      <vt:lpstr>Презентация PowerPoint</vt:lpstr>
      <vt:lpstr>SWOT анализ </vt:lpstr>
      <vt:lpstr>Презентация PowerPoint</vt:lpstr>
      <vt:lpstr>Презентация PowerPoint</vt:lpstr>
      <vt:lpstr>Презентация PowerPoint</vt:lpstr>
      <vt:lpstr>Матрица второго этапа SWOT-анализа</vt:lpstr>
      <vt:lpstr>матрица ранжирования рисков</vt:lpstr>
      <vt:lpstr>SNW-анализ</vt:lpstr>
      <vt:lpstr>SNW-анализ позволяет:</vt:lpstr>
      <vt:lpstr>Презентация PowerPoint</vt:lpstr>
      <vt:lpstr>Диаграмма Исикавы </vt:lpstr>
      <vt:lpstr>Факторы диаграммы Исикавы</vt:lpstr>
      <vt:lpstr>Презентация PowerPoint</vt:lpstr>
      <vt:lpstr>Работа с диаграммой Исикавы</vt:lpstr>
      <vt:lpstr>Расчёт потенциальных убытков может проводиться в разных ситуациях и с использованием различных методов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Оценка и анализ бизнес-рисков</dc:title>
  <dc:creator>Admin</dc:creator>
  <cp:lastModifiedBy>Паршин Николай Сергеевич</cp:lastModifiedBy>
  <cp:revision>7</cp:revision>
  <dcterms:created xsi:type="dcterms:W3CDTF">2025-08-04T17:39:41Z</dcterms:created>
  <dcterms:modified xsi:type="dcterms:W3CDTF">2026-02-26T07:06:20Z</dcterms:modified>
</cp:coreProperties>
</file>