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76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62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726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13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47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56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11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62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87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87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65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5813D4A-2132-4E4B-812D-96241B893425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71F7FA-C5BE-469B-9813-323A1898ADF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81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tmtech.ru/articles/sistema-upravleniya-operatsionnymi-riskami-po-716-p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20D9A6-0748-4542-A95F-5E630A8A6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Операционные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риски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их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специфика</a:t>
            </a:r>
            <a:endParaRPr lang="ru-RU" sz="28700" dirty="0"/>
          </a:p>
        </p:txBody>
      </p:sp>
    </p:spTree>
    <p:extLst>
      <p:ext uri="{BB962C8B-B14F-4D97-AF65-F5344CB8AC3E}">
        <p14:creationId xmlns:p14="http://schemas.microsoft.com/office/powerpoint/2010/main" val="61803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3D5D5-A900-465C-9521-F1D8E1C3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chemeClr val="tx1"/>
                </a:solidFill>
                <a:effectLst/>
                <a:latin typeface="YS Text"/>
              </a:rPr>
              <a:t>Введение в операционные риски 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EA5B3C-20AF-4351-AFEF-BFD0D74A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771651"/>
            <a:ext cx="10963275" cy="4514850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chemeClr val="tx1"/>
                </a:solidFill>
                <a:effectLst/>
              </a:rPr>
              <a:t>Операционный риск</a:t>
            </a:r>
            <a:r>
              <a:rPr lang="ru-RU" b="0" dirty="0">
                <a:solidFill>
                  <a:schemeClr val="tx1"/>
                </a:solidFill>
                <a:effectLst/>
              </a:rPr>
              <a:t> — нефинансовый риск, связанный с выполнением компанией бизнес-функций, включая риски мошенничества и внешних событий. Несмотря на то, что это нефинансовый риск, он приводит к финансовым потерям. </a:t>
            </a:r>
          </a:p>
          <a:p>
            <a:r>
              <a:rPr lang="ru-RU" b="1" i="0" dirty="0">
                <a:solidFill>
                  <a:schemeClr val="tx1"/>
                </a:solidFill>
                <a:effectLst/>
              </a:rPr>
              <a:t>Определение операционных рисков</a:t>
            </a:r>
            <a:r>
              <a:rPr lang="ru-RU" b="0" i="0" dirty="0">
                <a:solidFill>
                  <a:schemeClr val="tx1"/>
                </a:solidFill>
                <a:effectLst/>
              </a:rPr>
              <a:t>: риск возникновения прямых и непрямых потерь в результате несовершенства или ошибочных внутренних процессов организации, действий персонала и иных лиц, сбоев и недостатков информационных, технологических и иных систем, а также в результате реализации внешних событий. </a:t>
            </a:r>
          </a:p>
          <a:p>
            <a:pPr algn="l"/>
            <a:r>
              <a:rPr lang="ru-RU" b="1" dirty="0">
                <a:solidFill>
                  <a:schemeClr val="tx1"/>
                </a:solidFill>
                <a:effectLst/>
              </a:rPr>
              <a:t>Примеры ситуаций, приводящих к операционным рискам</a:t>
            </a:r>
            <a:r>
              <a:rPr lang="ru-RU" b="0" dirty="0">
                <a:solidFill>
                  <a:schemeClr val="tx1"/>
                </a:solidFill>
                <a:effectLst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chemeClr val="tx1"/>
                </a:solidFill>
                <a:effectLst/>
              </a:rPr>
              <a:t>Риск персонала.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chemeClr val="tx1"/>
                </a:solidFill>
                <a:effectLst/>
              </a:rPr>
              <a:t>Риск процесса.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chemeClr val="tx1"/>
                </a:solidFill>
                <a:effectLst/>
              </a:rPr>
              <a:t>Риск систем.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chemeClr val="tx1"/>
                </a:solidFill>
                <a:effectLst/>
              </a:rPr>
              <a:t>Риск внешних событий</a:t>
            </a:r>
            <a:r>
              <a:rPr lang="ru-RU" dirty="0">
                <a:solidFill>
                  <a:schemeClr val="tx1"/>
                </a:solidFill>
              </a:rPr>
              <a:t>.</a:t>
            </a:r>
            <a:r>
              <a:rPr lang="ru-RU" u="none" strike="noStrike" dirty="0">
                <a:solidFill>
                  <a:schemeClr val="tx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/>
            </a:r>
            <a:br>
              <a:rPr lang="ru-RU" u="none" strike="noStrike" dirty="0">
                <a:solidFill>
                  <a:schemeClr val="tx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</a:b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65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34588-2BAB-4B30-8EC1-11413D7E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Производственный риск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35D24-D587-4FCB-B24A-D8BECE83C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75" y="1809751"/>
            <a:ext cx="10658475" cy="4467224"/>
          </a:xfrm>
        </p:spPr>
        <p:txBody>
          <a:bodyPr>
            <a:noAutofit/>
          </a:bodyPr>
          <a:lstStyle/>
          <a:p>
            <a:r>
              <a:rPr lang="ru-RU" sz="2100" b="1" i="0" dirty="0">
                <a:solidFill>
                  <a:schemeClr val="tx1"/>
                </a:solidFill>
                <a:effectLst/>
              </a:rPr>
              <a:t>Производственный риск</a:t>
            </a:r>
            <a:r>
              <a:rPr lang="ru-RU" sz="2100" b="0" i="0" dirty="0">
                <a:solidFill>
                  <a:schemeClr val="tx1"/>
                </a:solidFill>
                <a:effectLst/>
              </a:rPr>
              <a:t> — это вероятность убытков или дополнительных издержек, связанных со сбоями или остановкой производственных процессов, нарушением технологии выполнения операций, низким качеством сырья или работы персонала и т. п.</a:t>
            </a:r>
          </a:p>
          <a:p>
            <a:pPr algn="l"/>
            <a:r>
              <a:rPr lang="ru-RU" sz="2100" b="1" dirty="0">
                <a:solidFill>
                  <a:schemeClr val="tx1"/>
                </a:solidFill>
                <a:effectLst/>
              </a:rPr>
              <a:t>Некоторые примеры производственных рисков</a:t>
            </a:r>
            <a:r>
              <a:rPr lang="ru-RU" sz="2100" b="0" dirty="0">
                <a:solidFill>
                  <a:schemeClr val="tx1"/>
                </a:solidFill>
                <a:effectLst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100" b="1" i="0" dirty="0">
                <a:solidFill>
                  <a:schemeClr val="tx1"/>
                </a:solidFill>
                <a:effectLst/>
              </a:rPr>
              <a:t>Риск невостребованности продукции</a:t>
            </a:r>
            <a:r>
              <a:rPr lang="ru-RU" sz="2100" b="0" i="0" dirty="0">
                <a:solidFill>
                  <a:schemeClr val="tx1"/>
                </a:solidFill>
                <a:effectLst/>
              </a:rPr>
              <a:t>. Например, если работниками отдела снабжения было закуплено иное сырьё или другие материальные ресурсы, чем это предусматривалось при разработке продукции, то она не станет пользоваться спросом, и фактический объём продаж окажется меньше запланированного.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100" b="1" i="0" dirty="0">
                <a:solidFill>
                  <a:schemeClr val="tx1"/>
                </a:solidFill>
                <a:effectLst/>
              </a:rPr>
              <a:t>Риск, связанный с квалификацией рабочих</a:t>
            </a:r>
            <a:r>
              <a:rPr lang="ru-RU" sz="2100" b="0" i="0" dirty="0">
                <a:solidFill>
                  <a:schemeClr val="tx1"/>
                </a:solidFill>
                <a:effectLst/>
              </a:rPr>
              <a:t>. Если квалификация рабочих не соответствует сложности выполняемых ими работ, это, обычно, отражается на качестве продукции. Следствием низкого качества является падение репутации фирмы.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100" b="1" i="0" dirty="0">
                <a:solidFill>
                  <a:schemeClr val="tx1"/>
                </a:solidFill>
                <a:effectLst/>
              </a:rPr>
              <a:t>Риск, возникающий из-за несоблюдения режима работы производственных основных фондов</a:t>
            </a:r>
            <a:r>
              <a:rPr lang="ru-RU" sz="2100" b="0" i="0" dirty="0">
                <a:solidFill>
                  <a:schemeClr val="tx1"/>
                </a:solidFill>
                <a:effectLst/>
              </a:rPr>
              <a:t>. Например, если технологический процесс требует производства продукции только в первую смену, то её выпуск во вторую смену приведёт к ухудшению её качества.</a:t>
            </a:r>
          </a:p>
          <a:p>
            <a:r>
              <a:rPr lang="ru-RU" sz="2100" b="0" i="0" dirty="0">
                <a:solidFill>
                  <a:schemeClr val="tx1"/>
                </a:solidFill>
                <a:effectLst/>
              </a:rPr>
              <a:t> </a:t>
            </a:r>
            <a:endParaRPr lang="ru-RU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639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63071-9F76-4379-9327-0F747DAB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Технологические риски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553CF-B870-4AC3-AF94-5F86F8BF5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845734"/>
            <a:ext cx="11134725" cy="4383616"/>
          </a:xfrm>
        </p:spPr>
        <p:txBody>
          <a:bodyPr>
            <a:normAutofit/>
          </a:bodyPr>
          <a:lstStyle/>
          <a:p>
            <a:pPr algn="l"/>
            <a:r>
              <a:rPr lang="ru-RU" sz="2400" b="1" dirty="0">
                <a:solidFill>
                  <a:srgbClr val="333333"/>
                </a:solidFill>
                <a:effectLst/>
              </a:rPr>
              <a:t>Технологические риски</a:t>
            </a:r>
            <a:r>
              <a:rPr lang="ru-RU" sz="2400" b="0" dirty="0">
                <a:solidFill>
                  <a:srgbClr val="333333"/>
                </a:solidFill>
                <a:effectLst/>
              </a:rPr>
              <a:t> — это потенциальные угрозы, возникающие при внедрении, использовании или модернизации технологий, которые могут привести к финансовым потерям, сбоям в работе и снижению конкурентоспособности. </a:t>
            </a:r>
          </a:p>
          <a:p>
            <a:pPr algn="l"/>
            <a:r>
              <a:rPr lang="ru-RU" sz="2400" b="1" dirty="0">
                <a:solidFill>
                  <a:srgbClr val="333333"/>
                </a:solidFill>
                <a:effectLst/>
              </a:rPr>
              <a:t>Некоторые причины возникновения технологических рисков</a:t>
            </a:r>
            <a:r>
              <a:rPr lang="ru-RU" sz="2400" b="0" dirty="0">
                <a:solidFill>
                  <a:srgbClr val="333333"/>
                </a:solidFill>
                <a:effectLst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Сбои в работе оборудования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. Это могут быть поломки производственного оборудования, ошибки в программном обеспечении, сбои в IT-инфраструктуре. 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Устаревшие технологии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. Если не предпринимать своевременные меры по защите и обновлению устаревших систем, они быстро теряют свою эффективность, становятся небезопасными и ненадёжными.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Кибератаки на системы управления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. К ним относятся хакерские атаки и вирусное ПО, нарушение конфиденциальности клиентской информации, уязвимости в облачных сервисах.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2212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652313-D906-45FE-AFAD-14DE229E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Логистические риски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8FA19A-24E7-4B46-9BDD-F05CE3834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845733"/>
            <a:ext cx="11172825" cy="4440767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rgbClr val="333333"/>
                </a:solidFill>
                <a:effectLst/>
              </a:rPr>
              <a:t>Логистические риски</a:t>
            </a:r>
            <a:r>
              <a:rPr lang="ru-RU" b="0" i="0" dirty="0">
                <a:solidFill>
                  <a:srgbClr val="333333"/>
                </a:solidFill>
                <a:effectLst/>
              </a:rPr>
              <a:t> — это потенциальные события или обстоятельства, способные нарушить нормальное функционирование цепи поставок и привести к финансовым или операционным потерям. 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</a:rPr>
              <a:t>Некоторые примеры логистических рисков</a:t>
            </a:r>
            <a:r>
              <a:rPr lang="ru-RU" b="0" dirty="0">
                <a:solidFill>
                  <a:srgbClr val="333333"/>
                </a:solidFill>
                <a:effectLst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 Утрата грузов</a:t>
            </a:r>
            <a:r>
              <a:rPr lang="ru-RU" b="0" i="0" dirty="0">
                <a:solidFill>
                  <a:srgbClr val="333333"/>
                </a:solidFill>
                <a:effectLst/>
              </a:rPr>
              <a:t>: хищение, недостача, ошибочная отгрузка третьим лицам, уничтожение вследствие природных или техногенных катастроф (аварий), а также негативных социальных явлений.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 Несвоевременная доставка</a:t>
            </a:r>
            <a:r>
              <a:rPr lang="ru-RU" b="0" i="0" dirty="0">
                <a:solidFill>
                  <a:srgbClr val="333333"/>
                </a:solidFill>
                <a:effectLst/>
              </a:rPr>
              <a:t>: опоздания приводят к срыву планов реализации, нарушению технологических процессов и даже к порче груза.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 Ненадлежащее оформление сопроводительных документов</a:t>
            </a:r>
            <a:r>
              <a:rPr lang="ru-RU" b="0" i="0" dirty="0">
                <a:solidFill>
                  <a:srgbClr val="333333"/>
                </a:solidFill>
                <a:effectLst/>
              </a:rPr>
              <a:t>: из-за ошибок в документации порой невозможно растаможить грузы, возникает риск запрета на перевозку или реализацию товара, что не позволяет доставить его до конечного потребителя.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 Раскрытие коммерческой тайны или конфиденциальной информации третьим лицам</a:t>
            </a:r>
            <a:r>
              <a:rPr lang="ru-RU" b="0" i="0" dirty="0">
                <a:solidFill>
                  <a:srgbClr val="333333"/>
                </a:solidFill>
                <a:effectLst/>
              </a:rPr>
              <a:t>: разглашение может привести к нарушению условий равенства в конкурентной борьбе и, как следствие, к потере части прибыли или прямым убыткам.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464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14986E-0199-4189-B709-CF750AD7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Риски снабжения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858103-408E-44A1-AFE1-362361F7A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845733"/>
            <a:ext cx="11296650" cy="441219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400" b="1" dirty="0">
                <a:solidFill>
                  <a:srgbClr val="333333"/>
                </a:solidFill>
                <a:effectLst/>
              </a:rPr>
              <a:t>Риски снабжения</a:t>
            </a:r>
            <a:r>
              <a:rPr lang="ru-RU" sz="2400" b="0" dirty="0">
                <a:solidFill>
                  <a:srgbClr val="333333"/>
                </a:solidFill>
                <a:effectLst/>
              </a:rPr>
              <a:t> — это потенциальные угрозы, которые могут повлиять на эффективность снабжения и привести к финансовым потерям. </a:t>
            </a:r>
          </a:p>
          <a:p>
            <a:pPr algn="l"/>
            <a:r>
              <a:rPr lang="ru-RU" sz="2400" b="1" dirty="0">
                <a:solidFill>
                  <a:srgbClr val="333333"/>
                </a:solidFill>
                <a:effectLst/>
              </a:rPr>
              <a:t>Некоторые факторы, влияющие на риски снабжения</a:t>
            </a:r>
            <a:r>
              <a:rPr lang="ru-RU" sz="2400" b="0" dirty="0">
                <a:solidFill>
                  <a:srgbClr val="333333"/>
                </a:solidFill>
                <a:effectLst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Внешние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: политические и экономические изменения, стихийные бедствия, эпидемии и пандемии.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Внутренние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: организационные недостатки, технологические проблемы, операционные сбои.</a:t>
            </a:r>
            <a:endParaRPr lang="ru-RU" sz="2400" b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ru-RU" sz="2400" b="1" dirty="0">
                <a:solidFill>
                  <a:srgbClr val="333333"/>
                </a:solidFill>
                <a:effectLst/>
              </a:rPr>
              <a:t>Некоторые примеры рисков снабжения</a:t>
            </a:r>
            <a:r>
              <a:rPr lang="ru-RU" sz="2400" b="0" dirty="0">
                <a:solidFill>
                  <a:srgbClr val="333333"/>
                </a:solidFill>
                <a:effectLst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Утрата грузов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: хищение, недостача, ошибочная отгрузка третьим лицам, уничтожение.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Несвоевременная доставка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: опоздания приводят к срыву планов реализации, нарушению технологических процессов и даже к порче груза.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Ненадлежащее оформление сопроводительных документов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: из-за ошибок в документации порой невозможно растаможить грузы, возникает риск запрета на перевозку или реализацию товара.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4104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D9D1A-F9E7-4CE8-8006-D52184D05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Контроль операционных рисков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591C2D-79C1-4EAF-B3AB-58C4FF175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17" y="1883833"/>
            <a:ext cx="11439525" cy="4450291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ffectLst/>
              </a:rPr>
              <a:t>Контроль операционных рисков</a:t>
            </a:r>
            <a:r>
              <a:rPr lang="ru-RU" b="0" dirty="0">
                <a:solidFill>
                  <a:srgbClr val="333333"/>
                </a:solidFill>
                <a:effectLst/>
              </a:rPr>
              <a:t> направлен на снижение возможного ущерба от их наступления. Управление рисками помогает компании сохранить положение на рынке, получить конкурентное преимущество, избежать финансовых и репутационных издержек. 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</a:rPr>
              <a:t>Некоторые инструменты контроля операционных рисков</a:t>
            </a:r>
            <a:r>
              <a:rPr lang="ru-RU" b="0" dirty="0">
                <a:solidFill>
                  <a:srgbClr val="333333"/>
                </a:solidFill>
                <a:effectLst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Процессная модель управления рисками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Включает планирование, реализацию, проверку и действие. На этапе планирования выбирают политику и методы управления рисками, оценивают информационные активы, формируют профили угроз и обрабатывают их.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Методологии оценки рисков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В зависимости от контекста системы и доменной области предприятия, требований регуляторов для анализа кибербезопасности применяют разные подходы.</a:t>
            </a:r>
            <a:endParaRPr lang="ru-RU" b="0" dirty="0">
              <a:solidFill>
                <a:srgbClr val="333333"/>
              </a:solidFill>
              <a:effectLst/>
            </a:endParaRPr>
          </a:p>
          <a:p>
            <a:pPr algn="l">
              <a:spcBef>
                <a:spcPts val="0"/>
              </a:spcBef>
            </a:pPr>
            <a:r>
              <a:rPr lang="ru-RU" b="1" dirty="0">
                <a:solidFill>
                  <a:srgbClr val="333333"/>
                </a:solidFill>
                <a:effectLst/>
              </a:rPr>
              <a:t>Пример успешного контроля рисков</a:t>
            </a:r>
            <a:r>
              <a:rPr lang="ru-RU" b="0" dirty="0">
                <a:solidFill>
                  <a:srgbClr val="333333"/>
                </a:solidFill>
                <a:effectLst/>
              </a:rPr>
              <a:t> — внедрение системы управления доступом (IAM). В компании, где 30% пользователей использовали простые пароли, которые можно было легко угадать, это создавало риск несанкционированного доступа. После внедрения IAM создали централизованный подход к управлению идентификацией и доступом к ресурсам, что полностью покрыло совокупность выявленных рисков. </a:t>
            </a:r>
          </a:p>
          <a:p>
            <a:pPr algn="l">
              <a:spcBef>
                <a:spcPts val="0"/>
              </a:spcBef>
            </a:pPr>
            <a:r>
              <a:rPr lang="ru-RU" b="0" dirty="0">
                <a:solidFill>
                  <a:srgbClr val="333333"/>
                </a:solidFill>
                <a:effectLst/>
              </a:rPr>
              <a:t>Обеспечение информационной безопасности — это непрерывный процесс. Новые технологии, угрозы, риски появляются каждый день, поэтому необходимо всегда быть готовыми принять меры по защите.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872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733AA-8E5B-4EC8-80AC-4A0E254DD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i="0" dirty="0">
                <a:solidFill>
                  <a:srgbClr val="333333"/>
                </a:solidFill>
                <a:effectLst/>
                <a:latin typeface="YS Text"/>
              </a:rPr>
              <a:t>Управление операционными рисками</a:t>
            </a:r>
            <a:endParaRPr lang="ru-RU" sz="4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441BE1-FF99-4AFA-B08D-07994D9D5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845734"/>
            <a:ext cx="10744200" cy="4459816"/>
          </a:xfrm>
        </p:spPr>
        <p:txBody>
          <a:bodyPr>
            <a:normAutofit fontScale="92500" lnSpcReduction="10000"/>
          </a:bodyPr>
          <a:lstStyle/>
          <a:p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Управление операционными рисками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 направлено на снижение возможного ущерба от их наступления.</a:t>
            </a:r>
          </a:p>
          <a:p>
            <a:pPr algn="l"/>
            <a:r>
              <a:rPr lang="ru-RU" sz="2400" b="1" dirty="0">
                <a:solidFill>
                  <a:srgbClr val="333333"/>
                </a:solidFill>
                <a:effectLst/>
                <a:latin typeface="YS Text"/>
              </a:rPr>
              <a:t>Некоторые принципы управления операционными рисками</a:t>
            </a:r>
            <a:r>
              <a:rPr lang="ru-RU" sz="2400" b="0" dirty="0">
                <a:solidFill>
                  <a:srgbClr val="333333"/>
                </a:solidFill>
                <a:effectLst/>
                <a:latin typeface="YS Text"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Инвентаризация активов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. Необходимо определить область защиты, оценить ресурсы и найти среди них наиболее ценные.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Определение недопустимых событий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. Такие события могут привести к серьёзному ущербу для системы.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Выявление угроз и уязвимостей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. Нужно определить сценарии, которые могут привести к наступлению негативных событий.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Разработка и внедрение мер по противодействию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. Это план действий, в основе которого — информация, полученная при моделировании угроз.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Мониторинг и модернизация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. Обеспечение информационной безопасности — это непрерывный процесс, необходимо всегда быть готовыми принять меры по защите.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5169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C48D7-04C8-4B35-AB87-9B25B3DD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333333"/>
                </a:solidFill>
                <a:effectLst/>
                <a:latin typeface="YS Text"/>
              </a:rPr>
              <a:t>Некоторые модели и методы оценки рисков</a:t>
            </a:r>
            <a:endParaRPr lang="ru-RU" sz="7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A7227-FDED-4139-8A8B-D71536846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49" y="1845733"/>
            <a:ext cx="10944225" cy="4431241"/>
          </a:xfrm>
        </p:spPr>
        <p:txBody>
          <a:bodyPr>
            <a:normAutofit lnSpcReduction="1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Модель FRAP (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Facilitated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 Risk Analysis Process)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 Состоит в качественной оценке рисков, при этом акценты расставляются в пользу детального изучения информационной системы с помощью автоматизированных инструментов, тщательной идентификации угроз с формированием подробного списка.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Модель CRAMM (CCTA Risk Analysis &amp; Management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Method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)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 Опирается на количественные и качественные методы анализа, уделяет повышенное внимание определению ценности информации.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Модель OCTAVE (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Operationally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Critical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Threat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, Asset,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and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Vulnerability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Evaluation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)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 Основана на качественной оценке рисков, ведётся в три этапа, где предварительно выполняется группа мероприятий, направленных на создание ролей, планирование рисков.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Роль команды по управлению рисками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 включает в себя, например, выявление потребностей бизнеса с точки зрения безопасности, идентификацию потенциальных угроз, связанных с системой, анализ полученных данных и применение подходящей методологии оценки рисков.</a:t>
            </a:r>
          </a:p>
          <a:p>
            <a:pPr algn="l"/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Оценка рисков и управление ими — ответственность компании.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5470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0B9C1-BA09-4BCE-8FE1-B8003254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рисками в реальности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03820-0C07-4421-BFC7-D93C523FB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Пример реального случая операционных рисков в компании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 — ситуация, когда при перевозке лакокрасочных материалов в кузове перевернулась паллета. Водитель не заметил, что покрыл качественной краской несколько километров автодороги. Перевозчику впоследствии пришлось не только компенсировать убытки заказчику, но и за свои деньги чистить загрязнённый участок трассы.</a:t>
            </a:r>
          </a:p>
          <a:p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Пример успешного управления рисками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 — ситуация с компанией </a:t>
            </a:r>
            <a:r>
              <a:rPr lang="ru-RU" sz="2400" b="1" i="0" dirty="0">
                <a:solidFill>
                  <a:srgbClr val="333333"/>
                </a:solidFill>
                <a:effectLst/>
                <a:latin typeface="YS Text"/>
              </a:rPr>
              <a:t>Toyota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, которая после разрушительного землетрясения в Японии в 2011 году смогла восстановить производство за рекордные сроки. Это стало возможным благодаря наличию детальных планов действий в чрезвычайных ситуациях, развитой сети альтернативных поставщиков, эффективной системе управления данными и чёткой координации действий всех подразделений.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4742694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1879</TotalTime>
  <Words>161</Words>
  <Application>Microsoft Office PowerPoint</Application>
  <PresentationFormat>Широкоэкранный</PresentationFormat>
  <Paragraphs>62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YS Text</vt:lpstr>
      <vt:lpstr>Ретро</vt:lpstr>
      <vt:lpstr>Операционные риски и их специфика</vt:lpstr>
      <vt:lpstr>Введение в операционные риски </vt:lpstr>
      <vt:lpstr>Производственный риск </vt:lpstr>
      <vt:lpstr>Технологические риски </vt:lpstr>
      <vt:lpstr>Логистические риски </vt:lpstr>
      <vt:lpstr>Риски снабжения </vt:lpstr>
      <vt:lpstr>Контроль операционных рисков </vt:lpstr>
      <vt:lpstr>Управление операционными рисками</vt:lpstr>
      <vt:lpstr>Некоторые модели и методы оценки рисков</vt:lpstr>
      <vt:lpstr>Управление рисками в реальности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риски и их специфика</dc:title>
  <dc:creator>Admin</dc:creator>
  <cp:lastModifiedBy>Паршин Николай Сергеевич</cp:lastModifiedBy>
  <cp:revision>9</cp:revision>
  <dcterms:created xsi:type="dcterms:W3CDTF">2025-08-07T07:40:14Z</dcterms:created>
  <dcterms:modified xsi:type="dcterms:W3CDTF">2026-02-26T07:47:59Z</dcterms:modified>
</cp:coreProperties>
</file>