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53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362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02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371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052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84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474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11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04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61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C811B34-8319-446E-9C12-ACE97F96E273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3B384FB-0C9F-413A-9BEA-9D2D9C3AB50A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6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oola.com/ru/blog/what-is-commercial-insuranc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BAF3F-42C8-4618-8C83-8436DC972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Методы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управления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бизнес-рисками</a:t>
            </a:r>
            <a:endParaRPr lang="ru-RU" sz="23900" b="1" dirty="0"/>
          </a:p>
        </p:txBody>
      </p:sp>
    </p:spTree>
    <p:extLst>
      <p:ext uri="{BB962C8B-B14F-4D97-AF65-F5344CB8AC3E}">
        <p14:creationId xmlns:p14="http://schemas.microsoft.com/office/powerpoint/2010/main" val="1975988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31626-65A7-467A-B043-861AFEBD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Классификация управления рисками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5F0D8D-48BC-4FB6-99F6-C1FDC9211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845733"/>
            <a:ext cx="11315700" cy="4450292"/>
          </a:xfrm>
        </p:spPr>
        <p:txBody>
          <a:bodyPr>
            <a:normAutofit/>
          </a:bodyPr>
          <a:lstStyle/>
          <a:p>
            <a:pPr algn="l"/>
            <a:r>
              <a:rPr lang="ru-RU" sz="2400" b="1" dirty="0">
                <a:solidFill>
                  <a:srgbClr val="333333"/>
                </a:solidFill>
                <a:effectLst/>
                <a:latin typeface="-apple-system"/>
              </a:rPr>
              <a:t>Классификация управления рисками</a:t>
            </a:r>
            <a:r>
              <a:rPr lang="ru-RU" sz="2400" b="0" dirty="0">
                <a:solidFill>
                  <a:srgbClr val="333333"/>
                </a:solidFill>
                <a:effectLst/>
                <a:latin typeface="-apple-system"/>
              </a:rPr>
              <a:t> включает четыре основные стратегии: избегание, снижение, передача и принятие:</a:t>
            </a:r>
          </a:p>
          <a:p>
            <a:pPr algn="l">
              <a:spcBef>
                <a:spcPts val="0"/>
              </a:spcBef>
              <a:buFont typeface="+mj-lt"/>
              <a:buAutoNum type="arabicPeriod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-apple-system"/>
              </a:rPr>
              <a:t>Избегание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. Стратегия заключается в полном исключении риска за счёт изменений характера проекта или плана управления.</a:t>
            </a:r>
          </a:p>
          <a:p>
            <a:pPr algn="l">
              <a:spcBef>
                <a:spcPts val="0"/>
              </a:spcBef>
              <a:buFont typeface="+mj-lt"/>
              <a:buAutoNum type="arabicPeriod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-apple-system"/>
              </a:rPr>
              <a:t>Снижение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. Стратегия предполагает усилия, направленные на понижение вероятности и/или последствий риска до приемлемых пределов.</a:t>
            </a:r>
          </a:p>
          <a:p>
            <a:pPr algn="l">
              <a:spcBef>
                <a:spcPts val="0"/>
              </a:spcBef>
              <a:buFont typeface="+mj-lt"/>
              <a:buAutoNum type="arabicPeriod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-apple-system"/>
              </a:rPr>
              <a:t>Передача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. Стратегия исключает угрозу риска путём передачи негативных последствий с ответственностью за реагирование на третью сторону. </a:t>
            </a:r>
          </a:p>
          <a:p>
            <a:pPr algn="l">
              <a:spcBef>
                <a:spcPts val="0"/>
              </a:spcBef>
              <a:buFont typeface="+mj-lt"/>
              <a:buAutoNum type="arabicPeriod"/>
            </a:pPr>
            <a:r>
              <a:rPr lang="ru-RU" sz="2400" b="1" i="0" dirty="0">
                <a:solidFill>
                  <a:schemeClr val="tx1"/>
                </a:solidFill>
                <a:effectLst/>
                <a:latin typeface="-apple-system"/>
              </a:rPr>
              <a:t>Принятие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-apple-system"/>
              </a:rPr>
              <a:t>. Стратегия означает решение команды не уклоняться от риска. При пассивном принятии команда ничего не предпринимает в отношении риска и в случае его возникновения разрабатывает способ его обхода или исправления последствий.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9765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8A35B-A4EA-40C4-BDA9-DB1ABD357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Избегание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E94D29-7FCB-4FDB-AAF3-A5DA354D7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1845733"/>
            <a:ext cx="11353800" cy="4431242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Избегание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(уклонение) — стратегия управления рисками, при которой риск устраняется за счёт изменения плана или отказа от действий, ведущих к его возникновению. 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Примеры избегания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Отказ от деятельности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, связанной с риском. Например, устранение риска, связанного с работами на высоте при мойке окон, путём использования щёток с длинными ручками, позволяющими работать с земли.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Устранение источника опасности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(например, опасного оборудования).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Изменение процесса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таким образом, что деятельность, связанная с риском, не выполняется.</a:t>
            </a:r>
            <a:endParaRPr lang="ru-RU" b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Цель избегания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— полностью устранить источник потенциальной проблемы</a:t>
            </a:r>
          </a:p>
          <a:p>
            <a:pPr algn="l"/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Однако в некоторых случаях избегание риска может привести к возникновению других рисков. Например, устранение рисков от переноса грузов вручную путём использования электротранспорта приводит к появлению рисков, связанных с использованием электротранспорта.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34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C175F-2BBF-4DC2-B50D-83962293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Снижение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03B4BD-8EFA-40BB-AE03-370BAB203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845733"/>
            <a:ext cx="11410950" cy="434551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Снижение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— это метод управления рисками, направленный на уменьшение их вероятности или негативных последствий.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Некоторые методы снижения вероятности наступления рисков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Внедрение стандартов и регламентов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Разработка и внедрение внутренних стандартов и регламентов, которые помогут минимизировать вероятность возникновения рисков. 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Обучение и тренинги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Проведение регулярных обучающих мероприятий для сотрудников, направленных на повышение их квалификации и осведомлённости о возможных рисках.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Технические меры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Внедрение современных технологий и оборудования, которые помогут снизить вероятность возникновения рисков. </a:t>
            </a:r>
            <a:endParaRPr lang="ru-RU" b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Некоторые методы снижения последствий рисков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Страхование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Заключение договоров страхования, которые помогут компенсировать финансовые потери в случае наступления рисков. 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Резервирование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Создание резервных фондов, которые могут быть использованы для покрытия убытков в случае возникновения рисков. 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Планирование действий в чрезвычайных ситуациях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Разработка планов действий в случае наступления рисков, которые помогут минимизировать их последствия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450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065FA-81E9-4363-B208-14B7828E6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Передача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3EC5EB-D74E-4E22-83DC-103CCE842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Передача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— метод управления рисками, при котором ответственность за риск переходит к третьему лицу при сохранении его существующего уровня. 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Некоторые способы передачи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Заключение контрактов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Бывают разные виды контрактов, например: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Организационная форма бизнеса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Например, при ограниченной ответственности владельцы компании передают возможные потери, которые превышают активы фирмы, кредиторам бизнеса. В акционерном обществе риск перетекает от руководителей компании к акционерам, а те могут передавать свои риски биржевым дельцам.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Хеджирование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Включает в себя операции на валютных рынках, позволяющие застраховаться от изменения валютного курса.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Страхование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— один из наиболее удобных и распространённых методов передачи риска. Суть метода заключается в передаче рисков страховой компании за плату.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2566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B2A1C9-4BE8-4E2B-8BAF-AAD6E8D8B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Принятие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AAE525-C603-4F3F-B397-5B611EC2A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845734"/>
            <a:ext cx="10658475" cy="4288366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Принятие риска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 — стратегия управления рисками, при которой компания осознанно принимает риск и не предпринимает активных мер для его устранения. 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Принятие риска подходит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, когда: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невозможно исключить все риски из проекта;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последствия риска некритичны;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затраты на снижение риска превышают вероятные потери.</a:t>
            </a:r>
            <a:endParaRPr lang="ru-RU" b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Принятие риска бывает пассивным и активным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. В первом случае компания принимает риск и ничего не делает, а во втором — для устранения вероятных последствий риска создают резерв ресурсов, например денежных. 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-apple-system"/>
              </a:rPr>
              <a:t>Пример</a:t>
            </a:r>
            <a:r>
              <a:rPr lang="ru-RU" b="0" dirty="0">
                <a:solidFill>
                  <a:srgbClr val="333333"/>
                </a:solidFill>
                <a:effectLst/>
                <a:latin typeface="-apple-system"/>
              </a:rPr>
              <a:t>: ретейлер понимает, что в сезон дождей возможно снижение посещаемости магазинов, но считает, что влияние этого риска минимально и не требует специальных действий.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6281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5B643-474E-47DD-93F1-1AAAA4AC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1"/>
                </a:solidFill>
                <a:effectLst/>
                <a:latin typeface="YS Text"/>
              </a:rPr>
              <a:t>Некоторые инструменты страхования рисков</a:t>
            </a:r>
            <a:r>
              <a:rPr lang="ru-RU" sz="3600" b="0" dirty="0">
                <a:solidFill>
                  <a:schemeClr val="tx1"/>
                </a:solidFill>
                <a:effectLst/>
                <a:latin typeface="YS Text"/>
              </a:rPr>
              <a:t>:</a:t>
            </a:r>
            <a:endParaRPr lang="ru-RU" sz="3600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72CE4-9EA5-4B4B-A48B-A80F2FC86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YS Text"/>
              </a:rPr>
              <a:t>Валютные форварды и опционы</a:t>
            </a:r>
            <a:r>
              <a:rPr lang="ru-RU" b="0" dirty="0">
                <a:effectLst/>
                <a:latin typeface="YS Text"/>
              </a:rPr>
              <a:t>. Форвардные контракты позволяют зафиксировать курс валюты на определённую дату в будущем. Опционы дают возможность, но не обязательство, обменять валюту по фиксированному курсу.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YS Text"/>
              </a:rPr>
              <a:t>Хеджирование инфляционных рисков</a:t>
            </a:r>
            <a:r>
              <a:rPr lang="ru-RU" b="0" dirty="0">
                <a:effectLst/>
                <a:latin typeface="YS Text"/>
              </a:rPr>
              <a:t>. Для защиты от инфляционных рисков заключают долгосрочные контракты на поставки товаров и услуг по фиксированной цене или используют инструменты индексирования, чтобы компенсировать инфляцию.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YS Text"/>
              </a:rPr>
              <a:t>Кредитное страхование</a:t>
            </a:r>
            <a:r>
              <a:rPr lang="ru-RU" b="0" dirty="0">
                <a:effectLst/>
                <a:latin typeface="YS Text"/>
              </a:rPr>
              <a:t>. Защищает от риска невыполнения обязательств контрагентами. Если клиент не оплачивает товар или услугу, страховая компания покрывает часть убытков компании.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YS Text"/>
              </a:rPr>
              <a:t>Страхование процентных рисков</a:t>
            </a:r>
            <a:r>
              <a:rPr lang="ru-RU" b="0" dirty="0">
                <a:effectLst/>
                <a:latin typeface="YS Text"/>
              </a:rPr>
              <a:t>. Компании могут застраховать риск повышения процентных ставок, что особенно важно для бизнеса с большим объёмом кредитных обязательств.</a:t>
            </a:r>
          </a:p>
          <a:p>
            <a:endParaRPr lang="ru-RU" b="0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408634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10803-9424-4C6F-A3B3-1F0966A1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tx1"/>
                </a:solidFill>
                <a:effectLst/>
                <a:latin typeface="YS Text"/>
              </a:rPr>
              <a:t>Некоторые виды страхования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06154A-6BCE-4066-856B-D35727972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YS Text"/>
              </a:rPr>
              <a:t>Страхование имущества</a:t>
            </a:r>
            <a:r>
              <a:rPr lang="ru-RU" b="0" dirty="0">
                <a:effectLst/>
                <a:latin typeface="YS Text"/>
              </a:rPr>
              <a:t>. Защищает от убытков, связанных с повреждением или уничтожением имущества.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YS Text"/>
              </a:rPr>
              <a:t>Страхование ответственности</a:t>
            </a:r>
            <a:r>
              <a:rPr lang="ru-RU" b="0" dirty="0">
                <a:effectLst/>
                <a:latin typeface="YS Text"/>
              </a:rPr>
              <a:t>. Защищает от исков третьих лиц.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YS Text"/>
              </a:rPr>
              <a:t>Страхование от перерывов в производстве</a:t>
            </a:r>
            <a:r>
              <a:rPr lang="ru-RU" b="0" dirty="0">
                <a:effectLst/>
                <a:latin typeface="YS Text"/>
              </a:rPr>
              <a:t>. Защищает от финансовых потерь, вызванных временной приостановкой деятельности.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effectLst/>
                <a:latin typeface="YS Text"/>
              </a:rPr>
              <a:t>Страхование </a:t>
            </a:r>
            <a:r>
              <a:rPr lang="ru-RU" b="1" dirty="0" err="1">
                <a:effectLst/>
                <a:latin typeface="YS Text"/>
              </a:rPr>
              <a:t>киберответственности</a:t>
            </a:r>
            <a:r>
              <a:rPr lang="ru-RU" b="0" dirty="0">
                <a:effectLst/>
                <a:latin typeface="YS Text"/>
              </a:rPr>
              <a:t>. Помогает защитить бизнес от финансовых последствий </a:t>
            </a:r>
            <a:r>
              <a:rPr lang="ru-RU" b="0" dirty="0" err="1">
                <a:effectLst/>
                <a:latin typeface="YS Text"/>
              </a:rPr>
              <a:t>киберрисков</a:t>
            </a:r>
            <a:r>
              <a:rPr lang="ru-RU" b="0" dirty="0">
                <a:effectLst/>
                <a:latin typeface="YS Text"/>
              </a:rPr>
              <a:t> и утечки данных. </a:t>
            </a:r>
          </a:p>
          <a:p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Коммерческое автострахование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. Обеспечивает страховое покрытие для автомобилей, используемых в бизнесе, и защищает от повреждений транспортных средств или грузов, а также травм других лиц. </a:t>
            </a:r>
            <a:r>
              <a:rPr lang="ru-RU" b="0" u="none" strike="noStrike" dirty="0">
                <a:effectLst/>
                <a:latin typeface="YS Text"/>
                <a:hlinkClick r:id="rId2"/>
              </a:rPr>
              <a:t/>
            </a:r>
            <a:br>
              <a:rPr lang="ru-RU" b="0" u="none" strike="noStrike" dirty="0">
                <a:effectLst/>
                <a:latin typeface="YS Text"/>
                <a:hlinkClick r:id="rId2"/>
              </a:rPr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854664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</TotalTime>
  <Words>155</Words>
  <Application>Microsoft Office PowerPoint</Application>
  <PresentationFormat>Широкоэкранный</PresentationFormat>
  <Paragraphs>51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-apple-system</vt:lpstr>
      <vt:lpstr>Arial</vt:lpstr>
      <vt:lpstr>Calibri</vt:lpstr>
      <vt:lpstr>Calibri Light</vt:lpstr>
      <vt:lpstr>Times New Roman</vt:lpstr>
      <vt:lpstr>YS Text</vt:lpstr>
      <vt:lpstr>Ретро</vt:lpstr>
      <vt:lpstr>Методы управления бизнес-рисками</vt:lpstr>
      <vt:lpstr>Классификация управления рисками </vt:lpstr>
      <vt:lpstr>Избегание риска </vt:lpstr>
      <vt:lpstr>Снижение риска </vt:lpstr>
      <vt:lpstr>Передача риска </vt:lpstr>
      <vt:lpstr>Принятие риска </vt:lpstr>
      <vt:lpstr>Некоторые инструменты страхования рисков:</vt:lpstr>
      <vt:lpstr>Некоторые виды страхования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управления бизнес-рисками</dc:title>
  <dc:creator>Admin</dc:creator>
  <cp:lastModifiedBy>Паршин Николай Сергеевич</cp:lastModifiedBy>
  <cp:revision>7</cp:revision>
  <dcterms:created xsi:type="dcterms:W3CDTF">2025-08-09T17:50:19Z</dcterms:created>
  <dcterms:modified xsi:type="dcterms:W3CDTF">2026-02-26T08:24:23Z</dcterms:modified>
</cp:coreProperties>
</file>