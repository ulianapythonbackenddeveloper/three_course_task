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48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8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03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70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06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245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775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92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72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881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45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C546E3-8D64-4FDD-A44F-014FCFE15892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83402EA-97FD-4BB4-B39B-DE423F69B14A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5932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d.medsteg.ru/healthcare-risk-management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60094-E292-42D6-AFDC-0785240FA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системы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управления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рисками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</a:t>
            </a: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44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предприятии</a:t>
            </a:r>
            <a:endParaRPr lang="ru-RU" sz="23900" b="1" dirty="0"/>
          </a:p>
        </p:txBody>
      </p:sp>
    </p:spTree>
    <p:extLst>
      <p:ext uri="{BB962C8B-B14F-4D97-AF65-F5344CB8AC3E}">
        <p14:creationId xmlns:p14="http://schemas.microsoft.com/office/powerpoint/2010/main" val="135193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3F240-B0FA-44F2-883F-4B7F505C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i="0" dirty="0">
                <a:solidFill>
                  <a:srgbClr val="333333"/>
                </a:solidFill>
                <a:effectLst/>
                <a:latin typeface="YS Text"/>
              </a:rPr>
              <a:t>Построение структуры управления рисками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666088-04C0-4771-A6F0-F13B1A30A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49" y="1845734"/>
            <a:ext cx="11134725" cy="4364566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Необходимо принять общую политику по риск-менеджменту в организации. Политика включает в себя отношение к рискам, постановку целей управления ими, возможность взаимодействия отдельных подразделений и обмена информацией.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Создание организационной структуры должно опираться на размер компании и количество средств, отведённое на службу риск-менеджмента. На больших предприятиях это может быть целый отдел, включающий в себя риск-менеджеров по финансам, технологических риск-менеджеров, риск-менеджеров кадровой службы и т. д.. На небольших предприятиях роль специалиста по риск-менеджменту может исполнять отдельный сотрудник из соответствующего отдела — финансового, технологического и т. п..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Для оценки рисков целесообразно создание экспертной группы, в зависимости от размера предприятия и решаемых задач это могут быть независимые консультанты или эксперты из числа работников.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Последняя часть алгоритма — мониторинг и контроль принятых мер и всей системы риск-менеджмента. На основании отчётностей проводят оценку эффективности всей системы риск-менеджмента и при необходимости проводят корректировку системы.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72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A8E5E-4938-45C6-911F-79BDC7BC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Роль риск-менеджера и профильные подразделения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994E87-2A3F-4B13-BEF5-AB91FB112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845733"/>
            <a:ext cx="11163300" cy="436456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Ключевую роль во внедрении системы риск-менеджмента на предприятии следует отвести высшему руководству. В его задачу входит утверждение порядка организации системы управления рисками, политики и регламентов риск-менеджмента, осуществление контроля за эффективностью функционирования системы, несение ответственности за управление рисками перед собственниками.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Риск-менеджмент наиболее эффективен, если он интегрирован в операционные процессы компании, и значительная часть ответственности передаётся линейным менеджерам. С учётом этого в каждом структурном подразделении, деятельность которого связана с факторами рисков, следует также назначить сотрудника, отвечающего за управление рисками.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673683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32D7F-E948-43F8-B8CA-5640DE8DB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YS Text"/>
              </a:rPr>
              <a:t>Документирование и регламентация процессов управления рисками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E3E05A-BD96-481D-853C-07C08148C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Детальное описание процедур, осуществляемых в рамках каждого этапа, а также методы выявления, оценки и управления отдельными рисками, регулируются внутренними нормативными документами корпорации, компании, акционерного общества.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«Руководство по риск-менеджменту» включает в себя различные нормативные, инструктивные и рабочие материалы, регулирующие процесс управления рисками с момента их выявления до момента порядка установления лимитов по выявленным рискам.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«Программа управления рисками» должна носить максимально конкретный характер, описывая выявленные риски и методы влияния на них.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232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C51723-F714-4E5A-A1EA-6182B522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0" dirty="0">
                <a:solidFill>
                  <a:srgbClr val="333333"/>
                </a:solidFill>
                <a:effectLst/>
                <a:latin typeface="YS Text"/>
              </a:rPr>
              <a:t>Один из примеров успешного внедрения системы управления рисками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A88E68-965D-494B-B38B-FC115735D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ru-RU" sz="2400" b="1" dirty="0">
                <a:solidFill>
                  <a:srgbClr val="333333"/>
                </a:solidFill>
                <a:latin typeface="YS Text"/>
              </a:rPr>
              <a:t>П</a:t>
            </a:r>
            <a:r>
              <a:rPr lang="ru-RU" sz="2400" b="1" dirty="0">
                <a:solidFill>
                  <a:srgbClr val="333333"/>
                </a:solidFill>
                <a:effectLst/>
                <a:latin typeface="YS Text"/>
              </a:rPr>
              <a:t>роект по строительству жилого комплекса в центре города</a:t>
            </a:r>
            <a:r>
              <a:rPr lang="ru-RU" sz="2400" b="0" dirty="0">
                <a:solidFill>
                  <a:srgbClr val="333333"/>
                </a:solidFill>
                <a:effectLst/>
                <a:latin typeface="YS Text"/>
              </a:rPr>
              <a:t>. Команда сталкивалась с рядом потенциальных рисков: задержками в поставках материалов, изменением норм законодательства, конфликтами с подрядчиком.</a:t>
            </a:r>
          </a:p>
          <a:p>
            <a:pPr algn="l"/>
            <a:r>
              <a:rPr lang="ru-RU" sz="2400" b="0" dirty="0">
                <a:solidFill>
                  <a:srgbClr val="333333"/>
                </a:solidFill>
                <a:effectLst/>
                <a:latin typeface="YS Text"/>
              </a:rPr>
              <a:t>Руководитель проекта внедрил систему управления рисками, включив следующие меры: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разработал план взаимодействия с несколькими поставщиками, чтобы снизить зависимость от одного контрагента;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создал резерв бюджета для покрытия неожиданных расходов;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333333"/>
                </a:solidFill>
                <a:effectLst/>
                <a:latin typeface="YS Text"/>
              </a:rPr>
              <a:t>организовал регулярные встречи с подрядчиками для решения вопросов, связанных с коммуникацией.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572131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FBC7E-1A61-42D0-A7AE-458AE589C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оценки рисков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22E978-4D8B-4B90-8694-50FE8C33F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25" y="1845734"/>
            <a:ext cx="11249025" cy="4393142"/>
          </a:xfrm>
        </p:spPr>
        <p:txBody>
          <a:bodyPr>
            <a:normAutofit fontScale="85000" lnSpcReduction="20000"/>
          </a:bodyPr>
          <a:lstStyle/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Метод экспертных оценок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. Основывается на мнениях и опыте специалистов, которые выносят суждения о потенциальных угрозах и способах их минимизации.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Статистический метод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. Проводят анализ статистических данных о происшествиях, травмах, заболеваниях, а также обращениях к врачам. По результатам выявляют тенденции, отслеживают динамику, корреляцию различных факторов.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Инструментальный метод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. Основан на использовании различных приборов для измерения параметров рабочей среды, таких как уровень шума, освещённость, температура, влажность, концентрация вредных веществ. 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Анализ причин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 (RCA, </a:t>
            </a:r>
            <a:r>
              <a:rPr lang="ru-RU" sz="2200" b="0" i="0" dirty="0" err="1">
                <a:solidFill>
                  <a:srgbClr val="333333"/>
                </a:solidFill>
                <a:effectLst/>
                <a:latin typeface="YS Text"/>
              </a:rPr>
              <a:t>Root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 </a:t>
            </a:r>
            <a:r>
              <a:rPr lang="ru-RU" sz="2200" b="0" i="0" dirty="0" err="1">
                <a:solidFill>
                  <a:srgbClr val="333333"/>
                </a:solidFill>
                <a:effectLst/>
                <a:latin typeface="YS Text"/>
              </a:rPr>
              <a:t>Cause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 Analysis). Систематический подход к идентификации и анализу основных причин происшествий, ошибок или нежелательных событий.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Техника </a:t>
            </a:r>
            <a:r>
              <a:rPr lang="ru-RU" sz="2200" b="1" i="0" dirty="0" err="1">
                <a:solidFill>
                  <a:srgbClr val="333333"/>
                </a:solidFill>
                <a:effectLst/>
                <a:latin typeface="YS Text"/>
              </a:rPr>
              <a:t>дельфи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. Инструмент управления рисками, который использует опрос экспертов для получения мнений и прогнозов относительно потенциальных рисков и оценки вероятности их возникновения.</a:t>
            </a:r>
          </a:p>
          <a:p>
            <a:pPr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Мозговой штурм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 (или групповое творческое мышление). Инструмент управления рисками, который предполагает сбор и генерацию идей, предложений и решений с помощью совместного обсуждения и вклада участников группы или команды. </a:t>
            </a:r>
          </a:p>
          <a:p>
            <a:pPr>
              <a:spcBef>
                <a:spcPts val="0"/>
              </a:spcBef>
            </a:pPr>
            <a:r>
              <a:rPr lang="ru-RU" sz="2200" b="1" i="0" dirty="0">
                <a:solidFill>
                  <a:srgbClr val="333333"/>
                </a:solidFill>
                <a:effectLst/>
                <a:latin typeface="YS Text"/>
              </a:rPr>
              <a:t>Реестр рисков</a:t>
            </a:r>
            <a:r>
              <a:rPr lang="ru-RU" sz="2200" b="0" i="0" dirty="0">
                <a:solidFill>
                  <a:srgbClr val="333333"/>
                </a:solidFill>
                <a:effectLst/>
                <a:latin typeface="YS Text"/>
              </a:rPr>
              <a:t>. Один из самых простых инструментов оценки рисков, представляет собой электронную таблицу, в которую включают описания существующих рисков, возможные последствия и способы их предотвращения. </a:t>
            </a:r>
            <a:r>
              <a:rPr lang="ru-RU" b="0" i="0" u="none" strike="noStrike" dirty="0">
                <a:solidFill>
                  <a:srgbClr val="333333"/>
                </a:solidFill>
                <a:effectLst/>
                <a:latin typeface="YS Text"/>
                <a:hlinkClick r:id="rId2"/>
              </a:rPr>
              <a:t/>
            </a:r>
            <a:br>
              <a:rPr lang="ru-RU" b="0" i="0" u="none" strike="noStrike" dirty="0">
                <a:solidFill>
                  <a:srgbClr val="333333"/>
                </a:solidFill>
                <a:effectLst/>
                <a:latin typeface="YS Text"/>
                <a:hlinkClick r:id="rId2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500472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106</TotalTime>
  <Words>457</Words>
  <Application>Microsoft Office PowerPoint</Application>
  <PresentationFormat>Широкоэкранный</PresentationFormat>
  <Paragraphs>27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YS Text</vt:lpstr>
      <vt:lpstr>Ретро</vt:lpstr>
      <vt:lpstr>Организация системы управления рисками на предприятии</vt:lpstr>
      <vt:lpstr>Построение структуры управления рисками</vt:lpstr>
      <vt:lpstr>Роль риск-менеджера и профильные подразделения</vt:lpstr>
      <vt:lpstr>Документирование и регламентация процессов управления рисками</vt:lpstr>
      <vt:lpstr>Один из примеров успешного внедрения системы управления рисками</vt:lpstr>
      <vt:lpstr>Методы оценки рисков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системы управления рисками на предприятии</dc:title>
  <dc:creator>Admin</dc:creator>
  <cp:lastModifiedBy>Паршин Николай Сергеевич</cp:lastModifiedBy>
  <cp:revision>5</cp:revision>
  <dcterms:created xsi:type="dcterms:W3CDTF">2025-08-10T14:48:04Z</dcterms:created>
  <dcterms:modified xsi:type="dcterms:W3CDTF">2026-02-26T08:32:22Z</dcterms:modified>
</cp:coreProperties>
</file>