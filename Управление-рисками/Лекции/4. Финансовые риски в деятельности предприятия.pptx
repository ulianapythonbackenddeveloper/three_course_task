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6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34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8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09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28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48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0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3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83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40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32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557F6D5-FECF-4E02-BBEE-24D874A9EEC0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C5F96E4-955C-4D4F-9D3D-E5FDE3C32463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77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85B18-C398-481B-8785-1372D6594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Финансовые риски в деятельности предприятия</a:t>
            </a:r>
            <a:endParaRPr lang="ru-RU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7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8548F-C071-4883-8E12-D9529A5A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>
                <a:solidFill>
                  <a:srgbClr val="333333"/>
                </a:solidFill>
                <a:effectLst/>
                <a:latin typeface="-apple-system"/>
              </a:rPr>
              <a:t>Управление финансовыми</a:t>
            </a:r>
            <a:endParaRPr lang="ru-RU" sz="5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D58BD-48BD-421C-86C2-E63742E54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845733"/>
            <a:ext cx="11153775" cy="44693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400" b="1" dirty="0">
                <a:solidFill>
                  <a:srgbClr val="333333"/>
                </a:solidFill>
                <a:effectLst/>
                <a:latin typeface="-apple-system"/>
              </a:rPr>
              <a:t>Управление финансовыми рисками важно для компаний</a:t>
            </a:r>
            <a:r>
              <a:rPr lang="ru-RU" sz="2400" b="0" dirty="0">
                <a:solidFill>
                  <a:srgbClr val="333333"/>
                </a:solidFill>
                <a:effectLst/>
                <a:latin typeface="-apple-system"/>
              </a:rPr>
              <a:t>, так как позволяет: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Предотвратить финансовые потери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Например, если руководство компании не вкладывает деньги в защиту от кибератак, существует угроза столкнуться с утечкой персональных данных клиентов.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Обеспечить устойчивость бизнеса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Управление рисками позволяет увеличить устойчивость организации даже под влиянием внешних факторов.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Создать конкурентное преимущество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Компания, которая обладает хорошо разработанной стратегией управления рисками, может быстрее и гибче реагировать на изменения на рынке.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Сохранить лояльность клиентов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Риск-менеджмент помогает бизнесу избежать ситуаций, которые могут негативно отразиться на его репутации и отношениях с клиентами.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Увеличить эффективность бизнес-процессов и усилить команду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Риск-менеджмент позволяет более эффективно управлять ресурсами, задачами и деньгами.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Улучшить репутацию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. Предприятия, которые проявляют ответственность в отношении угроз, вызывают доверие у своих клиентов, инвесторов и партнёров.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8477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B2BA8-EC25-4FA0-89B2-2F6751DD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-apple-system"/>
              </a:rPr>
              <a:t>Валютный риск</a:t>
            </a:r>
            <a:r>
              <a:rPr lang="ru-RU" b="0" dirty="0">
                <a:solidFill>
                  <a:schemeClr val="tx1"/>
                </a:solidFill>
                <a:effectLst/>
                <a:latin typeface="-apple-system"/>
              </a:rPr>
              <a:t> 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336E6-5BE6-4F0B-8F2D-DFE784EE9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845734"/>
            <a:ext cx="11353800" cy="4440766"/>
          </a:xfrm>
        </p:spPr>
        <p:txBody>
          <a:bodyPr>
            <a:normAutofit fontScale="92500"/>
          </a:bodyPr>
          <a:lstStyle/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Валютный риск</a:t>
            </a:r>
            <a:r>
              <a:rPr lang="ru-RU" b="0" dirty="0">
                <a:solidFill>
                  <a:srgbClr val="333333"/>
                </a:solidFill>
                <a:effectLst/>
              </a:rPr>
              <a:t> — это вероятность недополучить прибыль или понести убытки от финансовых, торговых и кредитных операций из-за изменчивости соотношения валют. </a:t>
            </a: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Причины возникновения валютных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: колебания курсов валют, уровень инфляции и процентные ставки, введение административных ограничений или другие действия государственных органов. </a:t>
            </a:r>
          </a:p>
          <a:p>
            <a:pPr algn="l">
              <a:spcBef>
                <a:spcPts val="0"/>
              </a:spcBef>
            </a:pPr>
            <a:endParaRPr lang="ru-RU" b="0" dirty="0">
              <a:solidFill>
                <a:srgbClr val="333333"/>
              </a:solidFill>
              <a:effectLst/>
            </a:endParaRP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Примеры валютных рисков</a:t>
            </a:r>
            <a:r>
              <a:rPr lang="ru-RU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Компания по производству эко-косметики из России</a:t>
            </a:r>
            <a:r>
              <a:rPr lang="ru-RU" b="0" i="0" dirty="0">
                <a:solidFill>
                  <a:srgbClr val="333333"/>
                </a:solidFill>
                <a:effectLst/>
              </a:rPr>
              <a:t> заключила договор на поставку продукции в Китай на сумму в 1 миллион юаней. На момент заключения сделки курс юаня к рублю составлял 10 рублей за юань. Значит, компания должна была получить 10 миллионов рублей по завершении сделки. Но в период между подписанием договора и фактическим получением платежа курс юаня к рублю изменился: упал до 8 рублей за юань. В результате вместо 10 миллионов рублей компания получила 8 миллионов рублей. Это — валютный риск, так как компания потеряла 2 миллиона рублей из-за колебаний валютного курса.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 Частное лицо берёт </a:t>
            </a:r>
            <a:r>
              <a:rPr lang="ru-RU" b="1" i="0" dirty="0" err="1">
                <a:solidFill>
                  <a:srgbClr val="333333"/>
                </a:solidFill>
                <a:effectLst/>
              </a:rPr>
              <a:t>займ</a:t>
            </a:r>
            <a:r>
              <a:rPr lang="ru-RU" b="1" i="0" dirty="0">
                <a:solidFill>
                  <a:srgbClr val="333333"/>
                </a:solidFill>
                <a:effectLst/>
              </a:rPr>
              <a:t> в евро</a:t>
            </a:r>
            <a:r>
              <a:rPr lang="ru-RU" b="0" i="0" dirty="0">
                <a:solidFill>
                  <a:srgbClr val="333333"/>
                </a:solidFill>
                <a:effectLst/>
              </a:rPr>
              <a:t> у другого частного лица. Человек занял 10 тысяч евро при курсе 65 рублей за евро — всего 650 тысяч рублей на 90 дней. Подошёл срок отдавать долг, за это время курс евро вырос до 95 рублей. Возвращать пришлось 950 тысяч рублей. Результат операции для заёмщика — 300 тысяч рублей в минусе.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36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5BE2F-661C-46BB-95B6-ACEDB4A1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Кредитный риск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E3E52-6652-4953-A346-D0BE53919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845733"/>
            <a:ext cx="11696699" cy="4478867"/>
          </a:xfrm>
        </p:spPr>
        <p:txBody>
          <a:bodyPr>
            <a:normAutofit lnSpcReduction="10000"/>
          </a:bodyPr>
          <a:lstStyle/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Кредитный риск</a:t>
            </a:r>
            <a:r>
              <a:rPr lang="ru-RU" b="0" dirty="0">
                <a:solidFill>
                  <a:srgbClr val="333333"/>
                </a:solidFill>
                <a:effectLst/>
              </a:rPr>
              <a:t> — это вероятность того, что заёмщик не выполнит свои обязательства по кредиту вовремя или вовсе откажется от их исполнения. Он касается не только банков, но и всех, кто работает с займами: микрофинансовых организаций, компаний с отсрочкой платежа, поставщиков товаров в рассрочку. </a:t>
            </a:r>
          </a:p>
          <a:p>
            <a:pPr algn="l">
              <a:spcBef>
                <a:spcPts val="0"/>
              </a:spcBef>
            </a:pPr>
            <a:endParaRPr lang="ru-RU" b="0" dirty="0">
              <a:solidFill>
                <a:srgbClr val="333333"/>
              </a:solidFill>
              <a:effectLst/>
            </a:endParaRP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rgbClr val="333333"/>
                </a:solidFill>
                <a:effectLst/>
              </a:rPr>
              <a:t>Некоторые индикаторы кредитного риска</a:t>
            </a:r>
            <a:r>
              <a:rPr lang="ru-RU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Кредитная история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Банки анализируют предыдущий опыт кредитования клиентов, их дисциплинированность в осуществлении выплат, наличие просрочек и других нарушений долговых обязательств.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Долговая нагрузка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Вычисляется как отношение обязательных платежей по займам к сумме ежемесячных доходов. Если этот показатель превышает 50%, вероятность невозврата слишком высока.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Капитал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Величина собственных средств клиента, которые он инвестирует в проект. Чем выше этот показатель, тем меньше банковские риски.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Условия кредитования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Включает анализ целевого назначения кредита, объёма запрашиваемых средств и других характеристик ссуды.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Обеспечение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При наличии залога кредитные риски банка минимальны, поэтому получить кредит с обеспечением проще.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315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3CA1D-5551-4917-98E7-F63BAEE0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rgbClr val="333333"/>
                </a:solidFill>
                <a:effectLst/>
                <a:latin typeface="-apple-system"/>
              </a:rPr>
              <a:t>Некоторые стратегии минимизации кредитного риска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DA6E94-FBEF-4267-A5A8-388AD550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845733"/>
            <a:ext cx="10553700" cy="4297892"/>
          </a:xfrm>
        </p:spPr>
        <p:txBody>
          <a:bodyPr/>
          <a:lstStyle/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Диверсификация портфеля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Распределение кредитных средств между различными секторами экономики, регионами и типами заёмщиков. Цель диверсификации — снизить концентрацию кредитного риска и минимизировать потенциальные убытки в случае дефолта нескольких заёмщиков, принадлежащих к одной отрасли или региону.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Обеспечение кредита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Залог, гарантия или поручительство служат страховкой на случай невозврата.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Страхование риска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Кредитное страхование позволяет передать часть ответственности страховой компании.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</a:rPr>
              <a:t>Кредитные лимиты</a:t>
            </a:r>
            <a:r>
              <a:rPr lang="ru-RU" sz="2400" b="0" i="0" dirty="0">
                <a:solidFill>
                  <a:srgbClr val="333333"/>
                </a:solidFill>
                <a:effectLst/>
              </a:rPr>
              <a:t>. Установление максимальной суммы на одного клиента помогает избежать концентрации рисков.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0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5467E-41DE-4192-8508-8051CD8E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Процентный риск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B786C-C0AA-4CA3-9EF8-7CABC397F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1845734"/>
            <a:ext cx="10829925" cy="4421716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</a:rPr>
              <a:t>Процентный риск</a:t>
            </a:r>
            <a:r>
              <a:rPr lang="ru-RU" b="0" dirty="0">
                <a:solidFill>
                  <a:srgbClr val="333333"/>
                </a:solidFill>
                <a:effectLst/>
              </a:rPr>
              <a:t> — это вероятность возникновения убытков или недополучения прибыли из-за неблагоприятного изменения процентных ставок на рынке. Он связан с колебаниями рыночной конъюнктуры, регулированием процентных ставок со стороны государства и центрального банка.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</a:rPr>
              <a:t>Некоторые виды процентного риска</a:t>
            </a:r>
            <a:r>
              <a:rPr lang="ru-RU" b="0" dirty="0">
                <a:solidFill>
                  <a:srgbClr val="333333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Позиционный риск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Возникает, когда проценты за использование ссудных средств выплачивают по непостоянной, то есть по «плавающей» ставке. Например, организация, которая предоставляет кредит или располагает депозитом в банке, может понести потери в связи со снижением процентных ставок.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Портфельный риск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Отражает влияние изменения процентных ставок на стоимость портфеля акций, облигаций. Увеличение процентных ставок на кредитные ресурсы приводит к уменьшению стоимости портфеля активов и обязательств.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</a:rPr>
              <a:t>Структурный риск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Связан с воздействием колебания процентных ставок на общее экономическое состояние компании в целом.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356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238CA-21FB-4E12-A8CA-6F9414DF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Инвестиционный риск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17A4FB-4328-4ECB-BB16-8E0A7B24F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845734"/>
            <a:ext cx="11582400" cy="4402666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tx1"/>
                </a:solidFill>
                <a:effectLst/>
              </a:rPr>
              <a:t>Инвестиционный риск</a:t>
            </a:r>
            <a:r>
              <a:rPr lang="ru-RU" b="0" dirty="0">
                <a:solidFill>
                  <a:schemeClr val="tx1"/>
                </a:solidFill>
                <a:effectLst/>
              </a:rPr>
              <a:t> — это вероятность потери инвестиций, неполучения дохода от инвестиций или обесценивания вложений. </a:t>
            </a:r>
          </a:p>
          <a:p>
            <a:pPr algn="l">
              <a:spcBef>
                <a:spcPts val="0"/>
              </a:spcBef>
            </a:pPr>
            <a:endParaRPr lang="ru-RU" b="0" dirty="0">
              <a:solidFill>
                <a:schemeClr val="tx1"/>
              </a:solidFill>
              <a:effectLst/>
            </a:endParaRP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tx1"/>
                </a:solidFill>
                <a:effectLst/>
              </a:rPr>
              <a:t>Некоторые типы инвестиционных рисков:</a:t>
            </a:r>
            <a:endParaRPr lang="ru-RU" b="0" dirty="0">
              <a:solidFill>
                <a:schemeClr val="tx1"/>
              </a:solidFill>
              <a:effectLst/>
            </a:endParaRP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</a:rPr>
              <a:t>Рыночный риск</a:t>
            </a:r>
            <a:r>
              <a:rPr lang="ru-RU" b="0" i="0" dirty="0">
                <a:solidFill>
                  <a:schemeClr val="tx1"/>
                </a:solidFill>
                <a:effectLst/>
              </a:rPr>
              <a:t>. Возникает из-за изменения стоимости активов. К таким рискам относятся, например, риски внесения изменений в законодательство, процентные риски, инфляционный риск, геополитические риски.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</a:rPr>
              <a:t>Кредитный риск</a:t>
            </a:r>
            <a:r>
              <a:rPr lang="ru-RU" b="0" i="0" dirty="0">
                <a:solidFill>
                  <a:schemeClr val="tx1"/>
                </a:solidFill>
                <a:effectLst/>
              </a:rPr>
              <a:t>. Заключается в вероятности утраты эмитентом платёжеспособности. В таком случае компания не сможет выполнить финансовые обязательства перед инвесторами. Особенно актуален кредитный риск для инвестиций в облигации и другие долговые бумаги.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</a:rPr>
              <a:t>Риск ликвидности</a:t>
            </a:r>
            <a:r>
              <a:rPr lang="ru-RU" b="0" i="0" dirty="0">
                <a:solidFill>
                  <a:schemeClr val="tx1"/>
                </a:solidFill>
                <a:effectLst/>
              </a:rPr>
              <a:t>. Связан с проблемой, когда держатели не могут продать активы по причине отсутствия спроса на них. Возможна и обратная ситуация: покупатели не могут приобрести активы по причине отсутствия предложений.</a:t>
            </a:r>
          </a:p>
          <a:p>
            <a:pPr marL="0" indent="0" algn="l">
              <a:spcBef>
                <a:spcPts val="0"/>
              </a:spcBef>
              <a:buNone/>
            </a:pPr>
            <a:endParaRPr lang="ru-RU" b="0" dirty="0">
              <a:solidFill>
                <a:schemeClr val="tx1"/>
              </a:solidFill>
              <a:effectLst/>
            </a:endParaRP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tx1"/>
                </a:solidFill>
                <a:effectLst/>
              </a:rPr>
              <a:t>Анализ инвестиционных рисков</a:t>
            </a:r>
            <a:r>
              <a:rPr lang="ru-RU" b="0" dirty="0">
                <a:solidFill>
                  <a:schemeClr val="tx1"/>
                </a:solidFill>
                <a:effectLst/>
              </a:rPr>
              <a:t> связан с оценкой ожидаемых доходов и их потерь. Уровень инвестиционного риска определяется как отклонение ожидаемых доходов от инвестирования от средней или расчётной величины. </a:t>
            </a:r>
          </a:p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tx1"/>
                </a:solidFill>
                <a:effectLst/>
              </a:rPr>
              <a:t>Для минимизации инвестиционных рисков</a:t>
            </a:r>
            <a:r>
              <a:rPr lang="ru-RU" b="0" dirty="0">
                <a:solidFill>
                  <a:schemeClr val="tx1"/>
                </a:solidFill>
                <a:effectLst/>
              </a:rPr>
              <a:t> используют, например, диверсификацию активов, хеджирование, анализ рынка и макроэкономических факторов, управление ликвидностью.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56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95E11-C323-4787-A519-F3A43D65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Методы анализа финансовых рисков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690A2-EB40-4EC7-8888-8935341E8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endParaRPr lang="ru-RU" sz="2400" b="1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1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 Статистические методы: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 Моделирование и прогнозирование.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 Методы сценарного анализа: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 Оценка в различных условиях.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 Метод исторического анализа: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 Использование прошлых данных для прогнозирования.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9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98002-0449-4FD1-811A-F2116258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Влияние финансовых рисков на устойчивость бизнеса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3FBDEA-26C2-402B-80A3-4C82AD8DB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94375"/>
            <a:ext cx="10058400" cy="272626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Прямое воздействие: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Уменьшение прибыли, снижение ликвидности.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Косвенное воздействие: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Репутационные риски, воздействие на акционерную стоимость.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Стратегии реагирования: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Создание резервов, хеджирование.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13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E5409-051B-487C-B7AA-1D2F69D5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Некоторые примеры компаний, пострадавших от финансовых рисков: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6353B4-28A1-4FC1-8C40-441FDDBEA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45734"/>
            <a:ext cx="11144250" cy="432646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«Сеть Связной»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В 2022 году компания получила убыток в 48,5 млрд рублей из-за создания резервов «под обесценение товарно-материальных ценностей» в 41,2 млрд рублей. В 2022 году «Сеть Связной» столкнулась с десятками исков от кредиторов и контрагентов на сумму более 14 млрд рублей. В феврале 2023 года компания обратилась в суд с заявлением о признании себя банкротом, в июне суд ввёл процедуру наблюдения.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«Русский уголь»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По итогам 2022 года компания получила убыток в 34,2 млрд рублей. Убыток связан с хеджированием (42,5 млрд рублей) и расходами по операциям с производными финансовыми инструментами (4,8 млрд рублей).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«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YS Text"/>
              </a:rPr>
              <a:t>РусАгро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»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В отчёте по деятельности за 2022 год компания сообщила, что её деятельность подвержена различным финансовым рискам, среди которых есть и кредитный риск. Деятельность «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YS Text"/>
              </a:rPr>
              <a:t>РусАгро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» включает предоставление займов, продажи в рассрочку, размещение депозитов в банках, а также другие операции с контрагентами, в результате которых возникают финансовые активы.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09164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</TotalTime>
  <Words>1169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Roboto</vt:lpstr>
      <vt:lpstr>YS Text</vt:lpstr>
      <vt:lpstr>Ретро</vt:lpstr>
      <vt:lpstr>Финансовые риски в деятельности предприятия</vt:lpstr>
      <vt:lpstr>Управление финансовыми</vt:lpstr>
      <vt:lpstr>Валютный риск </vt:lpstr>
      <vt:lpstr>Кредитный риск </vt:lpstr>
      <vt:lpstr>Некоторые стратегии минимизации кредитного риска</vt:lpstr>
      <vt:lpstr>Процентный риск </vt:lpstr>
      <vt:lpstr>Инвестиционный риск </vt:lpstr>
      <vt:lpstr>Методы анализа финансовых рисков</vt:lpstr>
      <vt:lpstr>Влияние финансовых рисков на устойчивость бизнеса</vt:lpstr>
      <vt:lpstr>Некоторые примеры компаний, пострадавших от финансовых рисков: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Финансовые риски в деятельности предприятия</dc:title>
  <dc:creator>Admin</dc:creator>
  <cp:lastModifiedBy>Admin</cp:lastModifiedBy>
  <cp:revision>9</cp:revision>
  <dcterms:created xsi:type="dcterms:W3CDTF">2025-08-05T15:55:53Z</dcterms:created>
  <dcterms:modified xsi:type="dcterms:W3CDTF">2025-08-05T16:25:07Z</dcterms:modified>
</cp:coreProperties>
</file>