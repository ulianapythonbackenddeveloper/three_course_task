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ru-RU"/>
              <a:t>Образец заголовка</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4F8F93A0-2DED-4C08-A3DF-E59DE54C4A7F}" type="datetimeFigureOut">
              <a:rPr lang="ru-RU" smtClean="0"/>
              <a:t>26.02.2026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7334072-997F-43B0-92B9-5AA432341443}" type="slidenum">
              <a:rPr lang="ru-RU" smtClean="0"/>
              <a:t>‹#›</a:t>
            </a:fld>
            <a:endParaRPr lang="ru-R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1534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F8F93A0-2DED-4C08-A3DF-E59DE54C4A7F}" type="datetimeFigureOut">
              <a:rPr lang="ru-RU" smtClean="0"/>
              <a:t>26.02.2026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7334072-997F-43B0-92B9-5AA432341443}" type="slidenum">
              <a:rPr lang="ru-RU" smtClean="0"/>
              <a:t>‹#›</a:t>
            </a:fld>
            <a:endParaRPr lang="ru-RU"/>
          </a:p>
        </p:txBody>
      </p:sp>
    </p:spTree>
    <p:extLst>
      <p:ext uri="{BB962C8B-B14F-4D97-AF65-F5344CB8AC3E}">
        <p14:creationId xmlns:p14="http://schemas.microsoft.com/office/powerpoint/2010/main" val="482859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4F8F93A0-2DED-4C08-A3DF-E59DE54C4A7F}" type="datetimeFigureOut">
              <a:rPr lang="ru-RU" smtClean="0"/>
              <a:t>26.02.2026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7334072-997F-43B0-92B9-5AA432341443}" type="slidenum">
              <a:rPr lang="ru-RU" smtClean="0"/>
              <a:t>‹#›</a:t>
            </a:fld>
            <a:endParaRPr lang="ru-R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3425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4F8F93A0-2DED-4C08-A3DF-E59DE54C4A7F}" type="datetimeFigureOut">
              <a:rPr lang="ru-RU" smtClean="0"/>
              <a:t>26.02.2026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7334072-997F-43B0-92B9-5AA432341443}" type="slidenum">
              <a:rPr lang="ru-RU" smtClean="0"/>
              <a:t>‹#›</a:t>
            </a:fld>
            <a:endParaRPr lang="ru-RU"/>
          </a:p>
        </p:txBody>
      </p:sp>
    </p:spTree>
    <p:extLst>
      <p:ext uri="{BB962C8B-B14F-4D97-AF65-F5344CB8AC3E}">
        <p14:creationId xmlns:p14="http://schemas.microsoft.com/office/powerpoint/2010/main" val="2698077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097280" y="2582334"/>
            <a:ext cx="4937760" cy="3378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217920" y="2582334"/>
            <a:ext cx="4937760" cy="3378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4F8F93A0-2DED-4C08-A3DF-E59DE54C4A7F}" type="datetimeFigureOut">
              <a:rPr lang="ru-RU" smtClean="0"/>
              <a:t>26.02.2026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F7334072-997F-43B0-92B9-5AA432341443}" type="slidenum">
              <a:rPr lang="ru-RU" smtClean="0"/>
              <a:t>‹#›</a:t>
            </a:fld>
            <a:endParaRPr lang="ru-RU"/>
          </a:p>
        </p:txBody>
      </p:sp>
    </p:spTree>
    <p:extLst>
      <p:ext uri="{BB962C8B-B14F-4D97-AF65-F5344CB8AC3E}">
        <p14:creationId xmlns:p14="http://schemas.microsoft.com/office/powerpoint/2010/main" val="210387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4F8F93A0-2DED-4C08-A3DF-E59DE54C4A7F}" type="datetimeFigureOut">
              <a:rPr lang="ru-RU" smtClean="0"/>
              <a:t>26.02.2026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F7334072-997F-43B0-92B9-5AA432341443}" type="slidenum">
              <a:rPr lang="ru-RU" smtClean="0"/>
              <a:t>‹#›</a:t>
            </a:fld>
            <a:endParaRPr lang="ru-RU"/>
          </a:p>
        </p:txBody>
      </p:sp>
    </p:spTree>
    <p:extLst>
      <p:ext uri="{BB962C8B-B14F-4D97-AF65-F5344CB8AC3E}">
        <p14:creationId xmlns:p14="http://schemas.microsoft.com/office/powerpoint/2010/main" val="3110132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F8F93A0-2DED-4C08-A3DF-E59DE54C4A7F}" type="datetimeFigureOut">
              <a:rPr lang="ru-RU" smtClean="0"/>
              <a:t>26.02.2026</a:t>
            </a:fld>
            <a:endParaRPr lang="ru-RU"/>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ru-RU"/>
          </a:p>
        </p:txBody>
      </p:sp>
      <p:sp>
        <p:nvSpPr>
          <p:cNvPr id="9" name="Slide Number Placeholder 8"/>
          <p:cNvSpPr>
            <a:spLocks noGrp="1"/>
          </p:cNvSpPr>
          <p:nvPr>
            <p:ph type="sldNum" sz="quarter" idx="12"/>
          </p:nvPr>
        </p:nvSpPr>
        <p:spPr/>
        <p:txBody>
          <a:bodyPr/>
          <a:lstStyle/>
          <a:p>
            <a:fld id="{F7334072-997F-43B0-92B9-5AA432341443}" type="slidenum">
              <a:rPr lang="ru-RU" smtClean="0"/>
              <a:t>‹#›</a:t>
            </a:fld>
            <a:endParaRPr lang="ru-RU"/>
          </a:p>
        </p:txBody>
      </p:sp>
    </p:spTree>
    <p:extLst>
      <p:ext uri="{BB962C8B-B14F-4D97-AF65-F5344CB8AC3E}">
        <p14:creationId xmlns:p14="http://schemas.microsoft.com/office/powerpoint/2010/main" val="1434736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ru-RU"/>
              <a:t>Образец заголовка</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F8F93A0-2DED-4C08-A3DF-E59DE54C4A7F}" type="datetimeFigureOut">
              <a:rPr lang="ru-RU" smtClean="0"/>
              <a:t>26.02.2026</a:t>
            </a:fld>
            <a:endParaRPr lang="ru-RU"/>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ru-RU"/>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7334072-997F-43B0-92B9-5AA432341443}" type="slidenum">
              <a:rPr lang="ru-RU" smtClean="0"/>
              <a:t>‹#›</a:t>
            </a:fld>
            <a:endParaRPr lang="ru-RU"/>
          </a:p>
        </p:txBody>
      </p:sp>
    </p:spTree>
    <p:extLst>
      <p:ext uri="{BB962C8B-B14F-4D97-AF65-F5344CB8AC3E}">
        <p14:creationId xmlns:p14="http://schemas.microsoft.com/office/powerpoint/2010/main" val="1583358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ru-RU"/>
              <a:t>Образец заголовка</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4F8F93A0-2DED-4C08-A3DF-E59DE54C4A7F}" type="datetimeFigureOut">
              <a:rPr lang="ru-RU" smtClean="0"/>
              <a:t>26.02.2026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7334072-997F-43B0-92B9-5AA432341443}" type="slidenum">
              <a:rPr lang="ru-RU" smtClean="0"/>
              <a:t>‹#›</a:t>
            </a:fld>
            <a:endParaRPr lang="ru-RU"/>
          </a:p>
        </p:txBody>
      </p:sp>
    </p:spTree>
    <p:extLst>
      <p:ext uri="{BB962C8B-B14F-4D97-AF65-F5344CB8AC3E}">
        <p14:creationId xmlns:p14="http://schemas.microsoft.com/office/powerpoint/2010/main" val="3818311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F8F93A0-2DED-4C08-A3DF-E59DE54C4A7F}" type="datetimeFigureOut">
              <a:rPr lang="ru-RU" smtClean="0"/>
              <a:t>26.02.2026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7334072-997F-43B0-92B9-5AA432341443}" type="slidenum">
              <a:rPr lang="ru-RU" smtClean="0"/>
              <a:t>‹#›</a:t>
            </a:fld>
            <a:endParaRPr lang="ru-RU"/>
          </a:p>
        </p:txBody>
      </p:sp>
    </p:spTree>
    <p:extLst>
      <p:ext uri="{BB962C8B-B14F-4D97-AF65-F5344CB8AC3E}">
        <p14:creationId xmlns:p14="http://schemas.microsoft.com/office/powerpoint/2010/main" val="3763665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F8F93A0-2DED-4C08-A3DF-E59DE54C4A7F}" type="datetimeFigureOut">
              <a:rPr lang="ru-RU" smtClean="0"/>
              <a:t>26.02.2026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7334072-997F-43B0-92B9-5AA432341443}" type="slidenum">
              <a:rPr lang="ru-RU" smtClean="0"/>
              <a:t>‹#›</a:t>
            </a:fld>
            <a:endParaRPr lang="ru-RU"/>
          </a:p>
        </p:txBody>
      </p:sp>
    </p:spTree>
    <p:extLst>
      <p:ext uri="{BB962C8B-B14F-4D97-AF65-F5344CB8AC3E}">
        <p14:creationId xmlns:p14="http://schemas.microsoft.com/office/powerpoint/2010/main" val="1698377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ru-RU"/>
              <a:t>Образец заголовка</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F8F93A0-2DED-4C08-A3DF-E59DE54C4A7F}" type="datetimeFigureOut">
              <a:rPr lang="ru-RU" smtClean="0"/>
              <a:t>26.02.2026</a:t>
            </a:fld>
            <a:endParaRPr lang="ru-RU"/>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ru-RU"/>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7334072-997F-43B0-92B9-5AA432341443}" type="slidenum">
              <a:rPr lang="ru-RU" smtClean="0"/>
              <a:t>‹#›</a:t>
            </a:fld>
            <a:endParaRPr lang="ru-RU"/>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22298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862A5F-B302-4ED9-B5C8-B81EC8FD90E3}"/>
              </a:ext>
            </a:extLst>
          </p:cNvPr>
          <p:cNvSpPr>
            <a:spLocks noGrp="1"/>
          </p:cNvSpPr>
          <p:nvPr>
            <p:ph type="ctrTitle"/>
          </p:nvPr>
        </p:nvSpPr>
        <p:spPr/>
        <p:txBody>
          <a:bodyPr>
            <a:normAutofit/>
          </a:bodyPr>
          <a:lstStyle/>
          <a:p>
            <a:r>
              <a:rPr lang="en-US" sz="4000" dirty="0">
                <a:effectLst/>
                <a:latin typeface="Times New Roman" panose="02020603050405020304" pitchFamily="18" charset="0"/>
                <a:ea typeface="Calibri" panose="020F0502020204030204" pitchFamily="34" charset="0"/>
              </a:rPr>
              <a:t>Правовые и </a:t>
            </a:r>
            <a:r>
              <a:rPr lang="en-US" sz="4000" dirty="0" err="1">
                <a:effectLst/>
                <a:latin typeface="Times New Roman" panose="02020603050405020304" pitchFamily="18" charset="0"/>
                <a:ea typeface="Calibri" panose="020F0502020204030204" pitchFamily="34" charset="0"/>
              </a:rPr>
              <a:t>регуляторные</a:t>
            </a:r>
            <a:r>
              <a:rPr lang="en-US" sz="4000" dirty="0">
                <a:effectLst/>
                <a:latin typeface="Times New Roman" panose="02020603050405020304" pitchFamily="18" charset="0"/>
                <a:ea typeface="Calibri" panose="020F0502020204030204" pitchFamily="34" charset="0"/>
              </a:rPr>
              <a:t> </a:t>
            </a:r>
            <a:r>
              <a:rPr lang="en-US" sz="4000" dirty="0" err="1">
                <a:effectLst/>
                <a:latin typeface="Times New Roman" panose="02020603050405020304" pitchFamily="18" charset="0"/>
                <a:ea typeface="Calibri" panose="020F0502020204030204" pitchFamily="34" charset="0"/>
              </a:rPr>
              <a:t>риски</a:t>
            </a:r>
            <a:endParaRPr lang="ru-RU" sz="11500" dirty="0"/>
          </a:p>
        </p:txBody>
      </p:sp>
    </p:spTree>
    <p:extLst>
      <p:ext uri="{BB962C8B-B14F-4D97-AF65-F5344CB8AC3E}">
        <p14:creationId xmlns:p14="http://schemas.microsoft.com/office/powerpoint/2010/main" val="3831557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F2D7384-C7D8-4AF4-97F9-C8766B66E130}"/>
              </a:ext>
            </a:extLst>
          </p:cNvPr>
          <p:cNvSpPr>
            <a:spLocks noGrp="1"/>
          </p:cNvSpPr>
          <p:nvPr>
            <p:ph type="title"/>
          </p:nvPr>
        </p:nvSpPr>
        <p:spPr/>
        <p:txBody>
          <a:bodyPr/>
          <a:lstStyle/>
          <a:p>
            <a:r>
              <a:rPr lang="ru-RU" b="1" dirty="0">
                <a:solidFill>
                  <a:srgbClr val="333333"/>
                </a:solidFill>
                <a:effectLst/>
                <a:latin typeface="YS Text"/>
              </a:rPr>
              <a:t>Правовые и регуляторные риски</a:t>
            </a:r>
            <a:r>
              <a:rPr lang="ru-RU" b="0" dirty="0">
                <a:solidFill>
                  <a:srgbClr val="333333"/>
                </a:solidFill>
                <a:effectLst/>
                <a:latin typeface="YS Text"/>
              </a:rPr>
              <a:t> </a:t>
            </a:r>
            <a:endParaRPr lang="ru-RU" dirty="0"/>
          </a:p>
        </p:txBody>
      </p:sp>
      <p:sp>
        <p:nvSpPr>
          <p:cNvPr id="3" name="Объект 2">
            <a:extLst>
              <a:ext uri="{FF2B5EF4-FFF2-40B4-BE49-F238E27FC236}">
                <a16:creationId xmlns:a16="http://schemas.microsoft.com/office/drawing/2014/main" id="{C5A52953-358A-4699-989F-F620963C14A2}"/>
              </a:ext>
            </a:extLst>
          </p:cNvPr>
          <p:cNvSpPr>
            <a:spLocks noGrp="1"/>
          </p:cNvSpPr>
          <p:nvPr>
            <p:ph idx="1"/>
          </p:nvPr>
        </p:nvSpPr>
        <p:spPr>
          <a:xfrm>
            <a:off x="504825" y="1845733"/>
            <a:ext cx="11258550" cy="4393141"/>
          </a:xfrm>
        </p:spPr>
        <p:txBody>
          <a:bodyPr>
            <a:normAutofit fontScale="92500" lnSpcReduction="20000"/>
          </a:bodyPr>
          <a:lstStyle/>
          <a:p>
            <a:pPr algn="l"/>
            <a:r>
              <a:rPr lang="ru-RU" sz="2400" b="1" dirty="0">
                <a:solidFill>
                  <a:srgbClr val="333333"/>
                </a:solidFill>
                <a:effectLst/>
                <a:latin typeface="YS Text"/>
              </a:rPr>
              <a:t>Правовые и регуляторные риски</a:t>
            </a:r>
            <a:r>
              <a:rPr lang="ru-RU" sz="2400" b="0" dirty="0">
                <a:solidFill>
                  <a:srgbClr val="333333"/>
                </a:solidFill>
                <a:effectLst/>
                <a:latin typeface="YS Text"/>
              </a:rPr>
              <a:t> — это события, которые могут оказать негативное воздействие на организацию и её целевые показатели. </a:t>
            </a:r>
          </a:p>
          <a:p>
            <a:pPr algn="l"/>
            <a:r>
              <a:rPr lang="ru-RU" sz="2400" b="1" dirty="0">
                <a:solidFill>
                  <a:srgbClr val="333333"/>
                </a:solidFill>
                <a:effectLst/>
                <a:latin typeface="YS Text"/>
              </a:rPr>
              <a:t>Определение правовых и регуляторных рисков</a:t>
            </a:r>
            <a:r>
              <a:rPr lang="ru-RU" sz="2400" b="0" dirty="0">
                <a:solidFill>
                  <a:srgbClr val="333333"/>
                </a:solidFill>
                <a:effectLst/>
                <a:latin typeface="YS Text"/>
              </a:rPr>
              <a:t>:</a:t>
            </a:r>
          </a:p>
          <a:p>
            <a:pPr algn="l">
              <a:spcBef>
                <a:spcPts val="0"/>
              </a:spcBef>
              <a:buFont typeface="Arial" panose="020B0604020202020204" pitchFamily="34" charset="0"/>
              <a:buChar char="•"/>
            </a:pPr>
            <a:r>
              <a:rPr lang="ru-RU" sz="2400" b="1" i="0" dirty="0">
                <a:solidFill>
                  <a:srgbClr val="333333"/>
                </a:solidFill>
                <a:effectLst/>
                <a:latin typeface="YS Text"/>
              </a:rPr>
              <a:t>Правовые риски</a:t>
            </a:r>
            <a:r>
              <a:rPr lang="ru-RU" sz="2400" b="0" i="0" dirty="0">
                <a:solidFill>
                  <a:srgbClr val="333333"/>
                </a:solidFill>
                <a:effectLst/>
                <a:latin typeface="YS Text"/>
              </a:rPr>
              <a:t> связаны с соблюдением законов и нормативных требований, которые распространяются на деятельность организации.</a:t>
            </a:r>
          </a:p>
          <a:p>
            <a:pPr algn="l">
              <a:spcBef>
                <a:spcPts val="0"/>
              </a:spcBef>
              <a:buFont typeface="Arial" panose="020B0604020202020204" pitchFamily="34" charset="0"/>
              <a:buChar char="•"/>
            </a:pPr>
            <a:r>
              <a:rPr lang="ru-RU" sz="2400" b="1" i="0" dirty="0">
                <a:solidFill>
                  <a:srgbClr val="333333"/>
                </a:solidFill>
                <a:effectLst/>
                <a:latin typeface="YS Text"/>
              </a:rPr>
              <a:t>Регуляторные риски</a:t>
            </a:r>
            <a:r>
              <a:rPr lang="ru-RU" sz="2400" b="0" i="0" dirty="0">
                <a:solidFill>
                  <a:srgbClr val="333333"/>
                </a:solidFill>
                <a:effectLst/>
                <a:latin typeface="YS Text"/>
              </a:rPr>
              <a:t> могут возникать, например, из-за штрафов, которые накладывают регулирующие органы, например Роскомнадзор, за утечку персональных данных клиентов и сотрудников.</a:t>
            </a:r>
          </a:p>
          <a:p>
            <a:pPr algn="l"/>
            <a:r>
              <a:rPr lang="ru-RU" sz="2400" b="1" dirty="0">
                <a:solidFill>
                  <a:srgbClr val="333333"/>
                </a:solidFill>
                <a:effectLst/>
                <a:latin typeface="YS Text"/>
              </a:rPr>
              <a:t>Влияние правовых рисков на деятельность организации</a:t>
            </a:r>
            <a:r>
              <a:rPr lang="ru-RU" sz="2400" b="0" dirty="0">
                <a:solidFill>
                  <a:srgbClr val="333333"/>
                </a:solidFill>
                <a:effectLst/>
                <a:latin typeface="YS Text"/>
              </a:rPr>
              <a:t>:</a:t>
            </a:r>
          </a:p>
          <a:p>
            <a:pPr algn="l">
              <a:spcBef>
                <a:spcPts val="0"/>
              </a:spcBef>
              <a:buFont typeface="Arial" panose="020B0604020202020204" pitchFamily="34" charset="0"/>
              <a:buChar char="•"/>
            </a:pPr>
            <a:r>
              <a:rPr lang="ru-RU" sz="2400" b="0" i="0" dirty="0">
                <a:solidFill>
                  <a:srgbClr val="333333"/>
                </a:solidFill>
                <a:effectLst/>
                <a:latin typeface="YS Text"/>
              </a:rPr>
              <a:t>Негативное воздействие правовых рисков может проявляться в прямых потерях, а также в риске потери репутации клиентов. </a:t>
            </a:r>
          </a:p>
          <a:p>
            <a:pPr algn="l">
              <a:spcBef>
                <a:spcPts val="0"/>
              </a:spcBef>
              <a:buFont typeface="Arial" panose="020B0604020202020204" pitchFamily="34" charset="0"/>
              <a:buChar char="•"/>
            </a:pPr>
            <a:r>
              <a:rPr lang="ru-RU" sz="2400" b="0" i="0" dirty="0">
                <a:solidFill>
                  <a:srgbClr val="333333"/>
                </a:solidFill>
                <a:effectLst/>
                <a:latin typeface="YS Text"/>
              </a:rPr>
              <a:t>Нарушение законодательства и нормативных требований может привести к санкциям со стороны регуляторов, что, в свою очередь, может повлечь за собой финансовые потери. </a:t>
            </a:r>
          </a:p>
          <a:p>
            <a:pPr algn="l">
              <a:spcBef>
                <a:spcPts val="0"/>
              </a:spcBef>
              <a:buFont typeface="Arial" panose="020B0604020202020204" pitchFamily="34" charset="0"/>
              <a:buChar char="•"/>
            </a:pPr>
            <a:r>
              <a:rPr lang="ru-RU" sz="2400" b="0" i="0" dirty="0">
                <a:solidFill>
                  <a:srgbClr val="333333"/>
                </a:solidFill>
                <a:effectLst/>
                <a:latin typeface="YS Text"/>
              </a:rPr>
              <a:t>Неправильная оценка рисков и отсутствие мер по их минимизации могут привести к катастрофическим последствиям.</a:t>
            </a:r>
          </a:p>
          <a:p>
            <a:endParaRPr lang="ru-RU" sz="2400" dirty="0"/>
          </a:p>
        </p:txBody>
      </p:sp>
    </p:spTree>
    <p:extLst>
      <p:ext uri="{BB962C8B-B14F-4D97-AF65-F5344CB8AC3E}">
        <p14:creationId xmlns:p14="http://schemas.microsoft.com/office/powerpoint/2010/main" val="18765587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A1A031F-23E3-4AC0-8DAE-27987062C2D3}"/>
              </a:ext>
            </a:extLst>
          </p:cNvPr>
          <p:cNvSpPr>
            <a:spLocks noGrp="1"/>
          </p:cNvSpPr>
          <p:nvPr>
            <p:ph type="title"/>
          </p:nvPr>
        </p:nvSpPr>
        <p:spPr/>
        <p:txBody>
          <a:bodyPr>
            <a:normAutofit/>
          </a:bodyPr>
          <a:lstStyle/>
          <a:p>
            <a:r>
              <a:rPr lang="ru-RU" sz="3600" b="1" dirty="0">
                <a:solidFill>
                  <a:srgbClr val="333333"/>
                </a:solidFill>
                <a:effectLst/>
                <a:latin typeface="YS Text"/>
              </a:rPr>
              <a:t>Законодательные ограничения деятельности</a:t>
            </a:r>
            <a:r>
              <a:rPr lang="ru-RU" sz="3600" b="0" dirty="0">
                <a:solidFill>
                  <a:srgbClr val="333333"/>
                </a:solidFill>
                <a:effectLst/>
                <a:latin typeface="YS Text"/>
              </a:rPr>
              <a:t> </a:t>
            </a:r>
            <a:endParaRPr lang="ru-RU" sz="3600" dirty="0"/>
          </a:p>
        </p:txBody>
      </p:sp>
      <p:sp>
        <p:nvSpPr>
          <p:cNvPr id="3" name="Объект 2">
            <a:extLst>
              <a:ext uri="{FF2B5EF4-FFF2-40B4-BE49-F238E27FC236}">
                <a16:creationId xmlns:a16="http://schemas.microsoft.com/office/drawing/2014/main" id="{DC521AF9-73F8-4528-AD34-0A337ADD03A4}"/>
              </a:ext>
            </a:extLst>
          </p:cNvPr>
          <p:cNvSpPr>
            <a:spLocks noGrp="1"/>
          </p:cNvSpPr>
          <p:nvPr>
            <p:ph idx="1"/>
          </p:nvPr>
        </p:nvSpPr>
        <p:spPr>
          <a:xfrm>
            <a:off x="390525" y="1845733"/>
            <a:ext cx="11468100" cy="4402667"/>
          </a:xfrm>
        </p:spPr>
        <p:txBody>
          <a:bodyPr>
            <a:normAutofit fontScale="92500" lnSpcReduction="10000"/>
          </a:bodyPr>
          <a:lstStyle/>
          <a:p>
            <a:pPr algn="l"/>
            <a:r>
              <a:rPr lang="ru-RU" b="1" dirty="0">
                <a:solidFill>
                  <a:srgbClr val="333333"/>
                </a:solidFill>
                <a:effectLst/>
                <a:latin typeface="YS Text"/>
              </a:rPr>
              <a:t>Законодательные ограничения деятельности</a:t>
            </a:r>
            <a:r>
              <a:rPr lang="ru-RU" b="0" dirty="0">
                <a:solidFill>
                  <a:srgbClr val="333333"/>
                </a:solidFill>
                <a:effectLst/>
                <a:latin typeface="YS Text"/>
              </a:rPr>
              <a:t> — это требования, которые регулируют различные сферы бизнеса и могут влиять на его работу. К таким рискам относится как несовершенство существующих законов, так и вероятность появления новых, способных создать дополнительные проблемы для компании. </a:t>
            </a:r>
          </a:p>
          <a:p>
            <a:pPr algn="l"/>
            <a:r>
              <a:rPr lang="ru-RU" b="1" dirty="0">
                <a:solidFill>
                  <a:srgbClr val="333333"/>
                </a:solidFill>
                <a:effectLst/>
                <a:latin typeface="YS Text"/>
              </a:rPr>
              <a:t>Некоторые категории нормативных актов</a:t>
            </a:r>
            <a:r>
              <a:rPr lang="ru-RU" b="0" dirty="0">
                <a:solidFill>
                  <a:srgbClr val="333333"/>
                </a:solidFill>
                <a:effectLst/>
                <a:latin typeface="YS Text"/>
              </a:rPr>
              <a:t>:</a:t>
            </a:r>
          </a:p>
          <a:p>
            <a:pPr algn="l">
              <a:spcBef>
                <a:spcPts val="0"/>
              </a:spcBef>
              <a:buFont typeface="Arial" panose="020B0604020202020204" pitchFamily="34" charset="0"/>
              <a:buChar char="•"/>
            </a:pPr>
            <a:r>
              <a:rPr lang="ru-RU" b="1" i="0" dirty="0">
                <a:solidFill>
                  <a:srgbClr val="333333"/>
                </a:solidFill>
                <a:effectLst/>
                <a:latin typeface="YS Text"/>
              </a:rPr>
              <a:t>Федеральные законы</a:t>
            </a:r>
            <a:r>
              <a:rPr lang="ru-RU" b="0" i="0" dirty="0">
                <a:solidFill>
                  <a:srgbClr val="333333"/>
                </a:solidFill>
                <a:effectLst/>
                <a:latin typeface="YS Text"/>
              </a:rPr>
              <a:t>. Например, из-за поправок в Жилищном кодексе с 1 октября 2019 года хостелы и гостиницы могли располагаться только в нежилых зданиях или в помещениях многоквартирных домов, имеющих статус нежилого фонда и соответствующих ряду дополнительных требований.</a:t>
            </a:r>
          </a:p>
          <a:p>
            <a:pPr algn="l">
              <a:spcBef>
                <a:spcPts val="0"/>
              </a:spcBef>
              <a:buFont typeface="Arial" panose="020B0604020202020204" pitchFamily="34" charset="0"/>
              <a:buChar char="•"/>
            </a:pPr>
            <a:r>
              <a:rPr lang="ru-RU" b="1" i="0" dirty="0">
                <a:solidFill>
                  <a:srgbClr val="333333"/>
                </a:solidFill>
                <a:effectLst/>
                <a:latin typeface="YS Text"/>
              </a:rPr>
              <a:t>Региональные законодательства</a:t>
            </a:r>
            <a:r>
              <a:rPr lang="ru-RU" b="0" i="0" dirty="0">
                <a:solidFill>
                  <a:srgbClr val="333333"/>
                </a:solidFill>
                <a:effectLst/>
                <a:latin typeface="YS Text"/>
              </a:rPr>
              <a:t>.</a:t>
            </a:r>
          </a:p>
          <a:p>
            <a:pPr algn="l">
              <a:spcBef>
                <a:spcPts val="0"/>
              </a:spcBef>
              <a:buFont typeface="Arial" panose="020B0604020202020204" pitchFamily="34" charset="0"/>
              <a:buChar char="•"/>
            </a:pPr>
            <a:r>
              <a:rPr lang="ru-RU" b="1" i="0" dirty="0">
                <a:solidFill>
                  <a:srgbClr val="333333"/>
                </a:solidFill>
                <a:effectLst/>
                <a:latin typeface="YS Text"/>
              </a:rPr>
              <a:t>Местные нормативные акты</a:t>
            </a:r>
            <a:r>
              <a:rPr lang="ru-RU" b="0" i="0" dirty="0">
                <a:solidFill>
                  <a:srgbClr val="333333"/>
                </a:solidFill>
                <a:effectLst/>
                <a:latin typeface="YS Text"/>
              </a:rPr>
              <a:t>.</a:t>
            </a:r>
            <a:endParaRPr lang="ru-RU" b="0" dirty="0">
              <a:solidFill>
                <a:srgbClr val="333333"/>
              </a:solidFill>
              <a:effectLst/>
              <a:latin typeface="YS Text"/>
            </a:endParaRPr>
          </a:p>
          <a:p>
            <a:pPr algn="l"/>
            <a:r>
              <a:rPr lang="ru-RU" b="1" dirty="0">
                <a:solidFill>
                  <a:srgbClr val="333333"/>
                </a:solidFill>
                <a:effectLst/>
                <a:latin typeface="YS Text"/>
              </a:rPr>
              <a:t>Примеры ограничений для различных сфер</a:t>
            </a:r>
            <a:r>
              <a:rPr lang="ru-RU" b="0" dirty="0">
                <a:solidFill>
                  <a:srgbClr val="333333"/>
                </a:solidFill>
                <a:effectLst/>
                <a:latin typeface="YS Text"/>
              </a:rPr>
              <a:t>:</a:t>
            </a:r>
          </a:p>
          <a:p>
            <a:pPr algn="l">
              <a:spcBef>
                <a:spcPts val="0"/>
              </a:spcBef>
              <a:buFont typeface="Arial" panose="020B0604020202020204" pitchFamily="34" charset="0"/>
              <a:buChar char="•"/>
            </a:pPr>
            <a:r>
              <a:rPr lang="ru-RU" b="1" i="0" dirty="0">
                <a:solidFill>
                  <a:srgbClr val="333333"/>
                </a:solidFill>
                <a:effectLst/>
                <a:latin typeface="YS Text"/>
              </a:rPr>
              <a:t>Финансовые услуги</a:t>
            </a:r>
            <a:r>
              <a:rPr lang="ru-RU" b="0" i="0" dirty="0">
                <a:solidFill>
                  <a:srgbClr val="333333"/>
                </a:solidFill>
                <a:effectLst/>
                <a:latin typeface="YS Text"/>
              </a:rPr>
              <a:t>: если руководство компании не вкладывает деньги в защиту от кибератак, существует угроза столкнуться с утечкой персональных данных клиентов. Это неизбежно приведёт к ущербу и репутационным проблемам.</a:t>
            </a:r>
          </a:p>
          <a:p>
            <a:pPr algn="l">
              <a:spcBef>
                <a:spcPts val="0"/>
              </a:spcBef>
              <a:buFont typeface="Arial" panose="020B0604020202020204" pitchFamily="34" charset="0"/>
              <a:buChar char="•"/>
            </a:pPr>
            <a:r>
              <a:rPr lang="ru-RU" b="1" i="0" dirty="0">
                <a:solidFill>
                  <a:srgbClr val="333333"/>
                </a:solidFill>
                <a:effectLst/>
                <a:latin typeface="YS Text"/>
              </a:rPr>
              <a:t>Экология</a:t>
            </a:r>
            <a:r>
              <a:rPr lang="ru-RU" b="0" i="0" dirty="0">
                <a:solidFill>
                  <a:srgbClr val="333333"/>
                </a:solidFill>
                <a:effectLst/>
                <a:latin typeface="YS Text"/>
              </a:rPr>
              <a:t>: например, риск, связанный с экологической катастрофой или стихийным бедствием.</a:t>
            </a:r>
          </a:p>
          <a:p>
            <a:endParaRPr lang="ru-RU" dirty="0"/>
          </a:p>
        </p:txBody>
      </p:sp>
    </p:spTree>
    <p:extLst>
      <p:ext uri="{BB962C8B-B14F-4D97-AF65-F5344CB8AC3E}">
        <p14:creationId xmlns:p14="http://schemas.microsoft.com/office/powerpoint/2010/main" val="3428361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D803701-84C3-4005-87C7-151A3310A60C}"/>
              </a:ext>
            </a:extLst>
          </p:cNvPr>
          <p:cNvSpPr>
            <a:spLocks noGrp="1"/>
          </p:cNvSpPr>
          <p:nvPr>
            <p:ph type="title"/>
          </p:nvPr>
        </p:nvSpPr>
        <p:spPr/>
        <p:txBody>
          <a:bodyPr/>
          <a:lstStyle/>
          <a:p>
            <a:r>
              <a:rPr lang="ru-RU" b="1" dirty="0">
                <a:solidFill>
                  <a:srgbClr val="333333"/>
                </a:solidFill>
                <a:effectLst/>
                <a:latin typeface="YS Text"/>
              </a:rPr>
              <a:t>Комплаенс</a:t>
            </a:r>
            <a:endParaRPr lang="ru-RU" dirty="0"/>
          </a:p>
        </p:txBody>
      </p:sp>
      <p:sp>
        <p:nvSpPr>
          <p:cNvPr id="3" name="Объект 2">
            <a:extLst>
              <a:ext uri="{FF2B5EF4-FFF2-40B4-BE49-F238E27FC236}">
                <a16:creationId xmlns:a16="http://schemas.microsoft.com/office/drawing/2014/main" id="{8C8024DC-80AE-47F8-8632-96C333016609}"/>
              </a:ext>
            </a:extLst>
          </p:cNvPr>
          <p:cNvSpPr>
            <a:spLocks noGrp="1"/>
          </p:cNvSpPr>
          <p:nvPr>
            <p:ph idx="1"/>
          </p:nvPr>
        </p:nvSpPr>
        <p:spPr>
          <a:xfrm>
            <a:off x="571499" y="1845733"/>
            <a:ext cx="11363325" cy="4402667"/>
          </a:xfrm>
        </p:spPr>
        <p:txBody>
          <a:bodyPr>
            <a:normAutofit fontScale="92500"/>
          </a:bodyPr>
          <a:lstStyle/>
          <a:p>
            <a:pPr algn="l"/>
            <a:r>
              <a:rPr lang="ru-RU" sz="2400" b="1" dirty="0">
                <a:solidFill>
                  <a:srgbClr val="333333"/>
                </a:solidFill>
                <a:effectLst/>
                <a:latin typeface="YS Text"/>
              </a:rPr>
              <a:t>Комплаенс</a:t>
            </a:r>
            <a:r>
              <a:rPr lang="ru-RU" sz="2400" b="0" dirty="0">
                <a:solidFill>
                  <a:srgbClr val="333333"/>
                </a:solidFill>
                <a:effectLst/>
                <a:latin typeface="YS Text"/>
              </a:rPr>
              <a:t> — это процесс обеспечения соответствия деятельности компании законодательству и отраслевым стандартам.</a:t>
            </a:r>
          </a:p>
          <a:p>
            <a:pPr algn="l"/>
            <a:r>
              <a:rPr lang="ru-RU" sz="2400" b="1" dirty="0">
                <a:solidFill>
                  <a:srgbClr val="333333"/>
                </a:solidFill>
                <a:effectLst/>
                <a:latin typeface="YS Text"/>
              </a:rPr>
              <a:t>Значение соблюдения законов для устойчивого развития бизнеса</a:t>
            </a:r>
            <a:r>
              <a:rPr lang="ru-RU" sz="2400" b="0" dirty="0">
                <a:solidFill>
                  <a:srgbClr val="333333"/>
                </a:solidFill>
                <a:effectLst/>
                <a:latin typeface="YS Text"/>
              </a:rPr>
              <a:t>:</a:t>
            </a:r>
          </a:p>
          <a:p>
            <a:pPr algn="l">
              <a:spcBef>
                <a:spcPts val="0"/>
              </a:spcBef>
              <a:buFont typeface="Arial" panose="020B0604020202020204" pitchFamily="34" charset="0"/>
              <a:buChar char="•"/>
            </a:pPr>
            <a:r>
              <a:rPr lang="ru-RU" sz="2400" b="1" i="0" dirty="0">
                <a:solidFill>
                  <a:srgbClr val="333333"/>
                </a:solidFill>
                <a:effectLst/>
                <a:latin typeface="YS Text"/>
              </a:rPr>
              <a:t>Минимизация рисков</a:t>
            </a:r>
            <a:r>
              <a:rPr lang="ru-RU" sz="2400" b="0" i="0" dirty="0">
                <a:solidFill>
                  <a:srgbClr val="333333"/>
                </a:solidFill>
                <a:effectLst/>
                <a:latin typeface="YS Text"/>
              </a:rPr>
              <a:t>. Несоблюдение нормативных требований может привести к юридическим санкциям, ухудшению репутации и серьёзным операционным сбоям. Эффективное управление рисками позволяет не только минимизировать возможные убытки, но и улучшить общую устойчивость компании, повысить её конкурентоспособность и снизить вероятность репутационных потерь.</a:t>
            </a:r>
          </a:p>
          <a:p>
            <a:pPr algn="l">
              <a:spcBef>
                <a:spcPts val="0"/>
              </a:spcBef>
              <a:buFont typeface="Arial" panose="020B0604020202020204" pitchFamily="34" charset="0"/>
              <a:buChar char="•"/>
            </a:pPr>
            <a:r>
              <a:rPr lang="ru-RU" sz="2400" b="1" i="0" dirty="0">
                <a:solidFill>
                  <a:srgbClr val="333333"/>
                </a:solidFill>
                <a:effectLst/>
                <a:latin typeface="YS Text"/>
              </a:rPr>
              <a:t>Обеспечение выполнения бизнес-процессов</a:t>
            </a:r>
            <a:r>
              <a:rPr lang="ru-RU" sz="2400" b="0" i="0" dirty="0">
                <a:solidFill>
                  <a:srgbClr val="333333"/>
                </a:solidFill>
                <a:effectLst/>
                <a:latin typeface="YS Text"/>
              </a:rPr>
              <a:t>. Любое отклонение от нормативного сценария бизнес-процесса считается операционным рисковым событием.</a:t>
            </a:r>
            <a:endParaRPr lang="ru-RU" sz="2400" b="0" dirty="0">
              <a:solidFill>
                <a:srgbClr val="333333"/>
              </a:solidFill>
              <a:effectLst/>
              <a:latin typeface="YS Text"/>
            </a:endParaRPr>
          </a:p>
          <a:p>
            <a:pPr algn="l"/>
            <a:r>
              <a:rPr lang="ru-RU" sz="2400" b="1" dirty="0">
                <a:solidFill>
                  <a:srgbClr val="333333"/>
                </a:solidFill>
                <a:effectLst/>
                <a:latin typeface="YS Text"/>
              </a:rPr>
              <a:t>Роль юридической службы в компании</a:t>
            </a:r>
            <a:r>
              <a:rPr lang="ru-RU" sz="2400" b="0" dirty="0">
                <a:solidFill>
                  <a:srgbClr val="333333"/>
                </a:solidFill>
                <a:effectLst/>
                <a:latin typeface="YS Text"/>
              </a:rPr>
              <a:t>:</a:t>
            </a:r>
          </a:p>
          <a:p>
            <a:pPr algn="l">
              <a:buFont typeface="Arial" panose="020B0604020202020204" pitchFamily="34" charset="0"/>
              <a:buChar char="•"/>
            </a:pPr>
            <a:r>
              <a:rPr lang="ru-RU" sz="2400" b="1" i="0" dirty="0">
                <a:solidFill>
                  <a:srgbClr val="333333"/>
                </a:solidFill>
                <a:effectLst/>
                <a:latin typeface="YS Text"/>
              </a:rPr>
              <a:t>Мониторинг изменений в нормативно-правовой базе</a:t>
            </a:r>
            <a:r>
              <a:rPr lang="ru-RU" sz="2400" b="0" i="0" dirty="0">
                <a:solidFill>
                  <a:srgbClr val="333333"/>
                </a:solidFill>
                <a:effectLst/>
                <a:latin typeface="YS Text"/>
              </a:rPr>
              <a:t>.</a:t>
            </a:r>
          </a:p>
          <a:p>
            <a:endParaRPr lang="ru-RU" sz="2400" dirty="0"/>
          </a:p>
        </p:txBody>
      </p:sp>
    </p:spTree>
    <p:extLst>
      <p:ext uri="{BB962C8B-B14F-4D97-AF65-F5344CB8AC3E}">
        <p14:creationId xmlns:p14="http://schemas.microsoft.com/office/powerpoint/2010/main" val="3698641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5023C-ABDC-4CF1-BB46-A413CBE02BAF}"/>
              </a:ext>
            </a:extLst>
          </p:cNvPr>
          <p:cNvSpPr>
            <a:spLocks noGrp="1"/>
          </p:cNvSpPr>
          <p:nvPr>
            <p:ph type="title"/>
          </p:nvPr>
        </p:nvSpPr>
        <p:spPr/>
        <p:txBody>
          <a:bodyPr/>
          <a:lstStyle/>
          <a:p>
            <a:r>
              <a:rPr lang="ru-RU" dirty="0"/>
              <a:t>Лицензирование деятельности</a:t>
            </a:r>
          </a:p>
        </p:txBody>
      </p:sp>
      <p:sp>
        <p:nvSpPr>
          <p:cNvPr id="3" name="Объект 2">
            <a:extLst>
              <a:ext uri="{FF2B5EF4-FFF2-40B4-BE49-F238E27FC236}">
                <a16:creationId xmlns:a16="http://schemas.microsoft.com/office/drawing/2014/main" id="{746BE3A6-3A8A-43CF-AD78-1EF38D514CC9}"/>
              </a:ext>
            </a:extLst>
          </p:cNvPr>
          <p:cNvSpPr>
            <a:spLocks noGrp="1"/>
          </p:cNvSpPr>
          <p:nvPr>
            <p:ph idx="1"/>
          </p:nvPr>
        </p:nvSpPr>
        <p:spPr>
          <a:xfrm>
            <a:off x="276225" y="1845733"/>
            <a:ext cx="11610975" cy="4421717"/>
          </a:xfrm>
        </p:spPr>
        <p:txBody>
          <a:bodyPr>
            <a:normAutofit fontScale="85000" lnSpcReduction="10000"/>
          </a:bodyPr>
          <a:lstStyle/>
          <a:p>
            <a:pPr algn="l"/>
            <a:r>
              <a:rPr lang="ru-RU" b="1" dirty="0">
                <a:solidFill>
                  <a:srgbClr val="333333"/>
                </a:solidFill>
                <a:effectLst/>
                <a:latin typeface="YS Text"/>
              </a:rPr>
              <a:t>Лицензия</a:t>
            </a:r>
            <a:r>
              <a:rPr lang="ru-RU" b="0" dirty="0">
                <a:solidFill>
                  <a:srgbClr val="333333"/>
                </a:solidFill>
                <a:effectLst/>
                <a:latin typeface="YS Text"/>
              </a:rPr>
              <a:t> — это разрешение на право осуществлять конкретный вид деятельности, которое выдаёт специальный лицензирующий орган. </a:t>
            </a:r>
            <a:r>
              <a:rPr lang="ru-RU" b="1" dirty="0">
                <a:solidFill>
                  <a:srgbClr val="333333"/>
                </a:solidFill>
                <a:effectLst/>
                <a:latin typeface="YS Text"/>
              </a:rPr>
              <a:t>Значение лицензии</a:t>
            </a:r>
            <a:r>
              <a:rPr lang="ru-RU" b="0" dirty="0">
                <a:solidFill>
                  <a:srgbClr val="333333"/>
                </a:solidFill>
                <a:effectLst/>
                <a:latin typeface="YS Text"/>
              </a:rPr>
              <a:t> заключается в том, что она позволяет контролировать деятельность, которая связана с риском причинения ущерба правам, законным интересам, жизни или здоровью граждан, окружающей среде, объектам культурного наследия, обороне и безопасности государства. </a:t>
            </a:r>
          </a:p>
          <a:p>
            <a:pPr algn="l"/>
            <a:r>
              <a:rPr lang="ru-RU" b="1" dirty="0">
                <a:solidFill>
                  <a:srgbClr val="333333"/>
                </a:solidFill>
                <a:effectLst/>
                <a:latin typeface="YS Text"/>
              </a:rPr>
              <a:t>Процесс получения лицензии</a:t>
            </a:r>
            <a:r>
              <a:rPr lang="ru-RU" b="0" dirty="0">
                <a:solidFill>
                  <a:srgbClr val="333333"/>
                </a:solidFill>
                <a:effectLst/>
                <a:latin typeface="YS Text"/>
              </a:rPr>
              <a:t> включает несколько этапов:</a:t>
            </a:r>
          </a:p>
          <a:p>
            <a:pPr algn="l">
              <a:spcBef>
                <a:spcPts val="0"/>
              </a:spcBef>
              <a:buFont typeface="+mj-lt"/>
              <a:buAutoNum type="arabicPeriod"/>
            </a:pPr>
            <a:r>
              <a:rPr lang="ru-RU" b="1" i="0" dirty="0">
                <a:solidFill>
                  <a:srgbClr val="333333"/>
                </a:solidFill>
                <a:effectLst/>
                <a:latin typeface="YS Text"/>
              </a:rPr>
              <a:t>Подготовка пакета документов</a:t>
            </a:r>
            <a:r>
              <a:rPr lang="ru-RU" b="0" i="0" dirty="0">
                <a:solidFill>
                  <a:srgbClr val="333333"/>
                </a:solidFill>
                <a:effectLst/>
                <a:latin typeface="YS Text"/>
              </a:rPr>
              <a:t>. Потребуется:</a:t>
            </a:r>
          </a:p>
          <a:p>
            <a:pPr algn="l">
              <a:spcBef>
                <a:spcPts val="0"/>
              </a:spcBef>
              <a:buFont typeface="Arial" panose="020B0604020202020204" pitchFamily="34" charset="0"/>
              <a:buChar char="•"/>
            </a:pPr>
            <a:r>
              <a:rPr lang="ru-RU" b="0" i="0" dirty="0">
                <a:solidFill>
                  <a:srgbClr val="333333"/>
                </a:solidFill>
                <a:effectLst/>
                <a:latin typeface="YS Text"/>
              </a:rPr>
              <a:t>заявление, подписанное предпринимателем или руководителем организации, получающей лицензию;</a:t>
            </a:r>
          </a:p>
          <a:p>
            <a:pPr algn="l">
              <a:spcBef>
                <a:spcPts val="0"/>
              </a:spcBef>
              <a:buFont typeface="Arial" panose="020B0604020202020204" pitchFamily="34" charset="0"/>
              <a:buChar char="•"/>
            </a:pPr>
            <a:r>
              <a:rPr lang="ru-RU" b="0" i="0" dirty="0">
                <a:solidFill>
                  <a:srgbClr val="333333"/>
                </a:solidFill>
                <a:effectLst/>
                <a:latin typeface="YS Text"/>
              </a:rPr>
              <a:t>копии документов, перечень которых определяется положением о лицензировании конкретного вида деятельности и которые свидетельствуют о соответствии соискателя лицензии лицензионным требованиям;</a:t>
            </a:r>
          </a:p>
          <a:p>
            <a:pPr algn="l">
              <a:spcBef>
                <a:spcPts val="0"/>
              </a:spcBef>
              <a:buFont typeface="Arial" panose="020B0604020202020204" pitchFamily="34" charset="0"/>
              <a:buChar char="•"/>
            </a:pPr>
            <a:r>
              <a:rPr lang="ru-RU" b="0" i="0" dirty="0">
                <a:solidFill>
                  <a:srgbClr val="333333"/>
                </a:solidFill>
                <a:effectLst/>
                <a:latin typeface="YS Text"/>
              </a:rPr>
              <a:t>опись прилагаемых документов.</a:t>
            </a:r>
          </a:p>
          <a:p>
            <a:pPr algn="l">
              <a:spcBef>
                <a:spcPts val="0"/>
              </a:spcBef>
              <a:buFont typeface="+mj-lt"/>
              <a:buAutoNum type="arabicPeriod" startAt="2"/>
            </a:pPr>
            <a:r>
              <a:rPr lang="ru-RU" b="1" i="0" dirty="0">
                <a:solidFill>
                  <a:srgbClr val="333333"/>
                </a:solidFill>
                <a:effectLst/>
                <a:latin typeface="YS Text"/>
              </a:rPr>
              <a:t>Подача документов в лицензирующий орган</a:t>
            </a:r>
            <a:r>
              <a:rPr lang="ru-RU" b="0" i="0" dirty="0">
                <a:solidFill>
                  <a:srgbClr val="333333"/>
                </a:solidFill>
                <a:effectLst/>
                <a:latin typeface="YS Text"/>
              </a:rPr>
              <a:t>. Обычно это делается в электронной форме через портал «Госуслуги». Но заявление также можно представить в лицензирующий орган или в МФЦ лично или по почте заказным письмом с уведомлением о вручении.</a:t>
            </a:r>
          </a:p>
          <a:p>
            <a:pPr algn="l">
              <a:spcBef>
                <a:spcPts val="0"/>
              </a:spcBef>
              <a:buFont typeface="+mj-lt"/>
              <a:buAutoNum type="arabicPeriod" startAt="2"/>
            </a:pPr>
            <a:r>
              <a:rPr lang="ru-RU" b="1" i="0" dirty="0">
                <a:solidFill>
                  <a:srgbClr val="333333"/>
                </a:solidFill>
                <a:effectLst/>
                <a:latin typeface="YS Text"/>
              </a:rPr>
              <a:t>Проверка документов</a:t>
            </a:r>
            <a:r>
              <a:rPr lang="ru-RU" b="0" i="0" dirty="0">
                <a:solidFill>
                  <a:srgbClr val="333333"/>
                </a:solidFill>
                <a:effectLst/>
                <a:latin typeface="YS Text"/>
              </a:rPr>
              <a:t>. В течение 45 рабочих дней с даты, когда были поданы все необходимые документы, лицензирующий орган проверяет полноту и достоверность содержащихся в них сведений, а также соответствие соискателя лицензии лицензионным требованиям.</a:t>
            </a:r>
          </a:p>
          <a:p>
            <a:pPr algn="l">
              <a:spcBef>
                <a:spcPts val="0"/>
              </a:spcBef>
              <a:buFont typeface="+mj-lt"/>
              <a:buAutoNum type="arabicPeriod" startAt="2"/>
            </a:pPr>
            <a:r>
              <a:rPr lang="ru-RU" b="1" i="0" dirty="0">
                <a:solidFill>
                  <a:srgbClr val="333333"/>
                </a:solidFill>
                <a:effectLst/>
                <a:latin typeface="YS Text"/>
              </a:rPr>
              <a:t>Вынесение решения</a:t>
            </a:r>
            <a:r>
              <a:rPr lang="ru-RU" b="0" i="0" dirty="0">
                <a:solidFill>
                  <a:srgbClr val="333333"/>
                </a:solidFill>
                <a:effectLst/>
                <a:latin typeface="YS Text"/>
              </a:rPr>
              <a:t>. По истечении указанного срока лицензирующий орган выносит письменное решение: о предоставлении лицензии или об отказе в её выдаче.</a:t>
            </a:r>
          </a:p>
          <a:p>
            <a:endParaRPr lang="ru-RU" dirty="0"/>
          </a:p>
        </p:txBody>
      </p:sp>
    </p:spTree>
    <p:extLst>
      <p:ext uri="{BB962C8B-B14F-4D97-AF65-F5344CB8AC3E}">
        <p14:creationId xmlns:p14="http://schemas.microsoft.com/office/powerpoint/2010/main" val="3804361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F9662C-F86A-4A40-8F6C-02A0F86B9F81}"/>
              </a:ext>
            </a:extLst>
          </p:cNvPr>
          <p:cNvSpPr>
            <a:spLocks noGrp="1"/>
          </p:cNvSpPr>
          <p:nvPr>
            <p:ph type="title"/>
          </p:nvPr>
        </p:nvSpPr>
        <p:spPr/>
        <p:txBody>
          <a:bodyPr/>
          <a:lstStyle/>
          <a:p>
            <a:r>
              <a:rPr lang="ru-RU" b="1" i="0" dirty="0">
                <a:solidFill>
                  <a:srgbClr val="333333"/>
                </a:solidFill>
                <a:effectLst/>
                <a:latin typeface="YS Text"/>
              </a:rPr>
              <a:t>Сертификация</a:t>
            </a:r>
            <a:endParaRPr lang="ru-RU" dirty="0"/>
          </a:p>
        </p:txBody>
      </p:sp>
      <p:sp>
        <p:nvSpPr>
          <p:cNvPr id="3" name="Объект 2">
            <a:extLst>
              <a:ext uri="{FF2B5EF4-FFF2-40B4-BE49-F238E27FC236}">
                <a16:creationId xmlns:a16="http://schemas.microsoft.com/office/drawing/2014/main" id="{A9A4D858-F9C8-4A13-985D-C94567C81900}"/>
              </a:ext>
            </a:extLst>
          </p:cNvPr>
          <p:cNvSpPr>
            <a:spLocks noGrp="1"/>
          </p:cNvSpPr>
          <p:nvPr>
            <p:ph idx="1"/>
          </p:nvPr>
        </p:nvSpPr>
        <p:spPr>
          <a:xfrm>
            <a:off x="400050" y="1845734"/>
            <a:ext cx="11487150" cy="4421716"/>
          </a:xfrm>
        </p:spPr>
        <p:txBody>
          <a:bodyPr>
            <a:normAutofit/>
          </a:bodyPr>
          <a:lstStyle/>
          <a:p>
            <a:r>
              <a:rPr lang="ru-RU" b="1" i="0" dirty="0">
                <a:solidFill>
                  <a:srgbClr val="333333"/>
                </a:solidFill>
                <a:effectLst/>
                <a:latin typeface="YS Text"/>
              </a:rPr>
              <a:t>Сертификация</a:t>
            </a:r>
            <a:r>
              <a:rPr lang="ru-RU" b="0" i="0" dirty="0">
                <a:solidFill>
                  <a:srgbClr val="333333"/>
                </a:solidFill>
                <a:effectLst/>
                <a:latin typeface="YS Text"/>
              </a:rPr>
              <a:t> — это процедура, в ходе которой уполномоченная организация подтверждает соответствие продукции, работ, услуг и процессов установленным нормам и требованиям. На заключительном этапе производителю или продавцу выдают удостоверяющий документ — сертификат.</a:t>
            </a:r>
          </a:p>
          <a:p>
            <a:pPr algn="l"/>
            <a:r>
              <a:rPr lang="ru-RU" b="1" dirty="0">
                <a:solidFill>
                  <a:srgbClr val="333333"/>
                </a:solidFill>
                <a:effectLst/>
                <a:latin typeface="YS Text"/>
              </a:rPr>
              <a:t>Виды сертификации</a:t>
            </a:r>
            <a:r>
              <a:rPr lang="ru-RU" b="0" dirty="0">
                <a:solidFill>
                  <a:srgbClr val="333333"/>
                </a:solidFill>
                <a:effectLst/>
                <a:latin typeface="YS Text"/>
              </a:rPr>
              <a:t>:</a:t>
            </a:r>
          </a:p>
          <a:p>
            <a:pPr algn="l">
              <a:buFont typeface="+mj-lt"/>
              <a:buAutoNum type="arabicPeriod"/>
            </a:pPr>
            <a:r>
              <a:rPr lang="ru-RU" b="1" i="0" dirty="0">
                <a:solidFill>
                  <a:srgbClr val="333333"/>
                </a:solidFill>
                <a:effectLst/>
                <a:latin typeface="YS Text"/>
              </a:rPr>
              <a:t>Добровольная</a:t>
            </a:r>
            <a:r>
              <a:rPr lang="ru-RU" b="0" i="0" dirty="0">
                <a:solidFill>
                  <a:srgbClr val="333333"/>
                </a:solidFill>
                <a:effectLst/>
                <a:latin typeface="YS Text"/>
              </a:rPr>
              <a:t>. Проводится по инициативе производителя, поставщика или продавца, чтобы подтвердить качество продукции, не входящей в перечень обязательной сертификации, или дополнительные характеристики, не регулируемые законом. Цель — повышение конкурентоспособности продукции, укрепление доверия потребителей, выход на новые рынки.</a:t>
            </a:r>
          </a:p>
          <a:p>
            <a:pPr algn="l">
              <a:buFont typeface="+mj-lt"/>
              <a:buAutoNum type="arabicPeriod"/>
            </a:pPr>
            <a:r>
              <a:rPr lang="ru-RU" b="1" i="0" dirty="0">
                <a:solidFill>
                  <a:srgbClr val="333333"/>
                </a:solidFill>
                <a:effectLst/>
                <a:latin typeface="YS Text"/>
              </a:rPr>
              <a:t>Обязательная</a:t>
            </a:r>
            <a:r>
              <a:rPr lang="ru-RU" b="0" i="0" dirty="0">
                <a:solidFill>
                  <a:srgbClr val="333333"/>
                </a:solidFill>
                <a:effectLst/>
                <a:latin typeface="YS Text"/>
              </a:rPr>
              <a:t>. Предусмотрена законодательством Российской Федерации и Таможенного союза (ЕАЭС) для подтверждения соответствия продукции требованиям технических регламентов или национальных стандартов (ГОСТ Р). Она обязательна для определённых видов продукции, включённых в специальные перечни, утверждённые нормативными актами.</a:t>
            </a:r>
          </a:p>
          <a:p>
            <a:endParaRPr lang="ru-RU" dirty="0"/>
          </a:p>
        </p:txBody>
      </p:sp>
    </p:spTree>
    <p:extLst>
      <p:ext uri="{BB962C8B-B14F-4D97-AF65-F5344CB8AC3E}">
        <p14:creationId xmlns:p14="http://schemas.microsoft.com/office/powerpoint/2010/main" val="866667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9018BB-D6E2-4204-A8B6-286DB1E95A1F}"/>
              </a:ext>
            </a:extLst>
          </p:cNvPr>
          <p:cNvSpPr>
            <a:spLocks noGrp="1"/>
          </p:cNvSpPr>
          <p:nvPr>
            <p:ph type="title"/>
          </p:nvPr>
        </p:nvSpPr>
        <p:spPr/>
        <p:txBody>
          <a:bodyPr>
            <a:normAutofit fontScale="90000"/>
          </a:bodyPr>
          <a:lstStyle/>
          <a:p>
            <a:pPr algn="ctr"/>
            <a:r>
              <a:rPr lang="ru-RU" b="1" dirty="0">
                <a:solidFill>
                  <a:srgbClr val="333333"/>
                </a:solidFill>
                <a:effectLst/>
                <a:latin typeface="YS Text"/>
              </a:rPr>
              <a:t>Риски, связанные с лицензированием и сертификацией</a:t>
            </a:r>
            <a:endParaRPr lang="ru-RU" dirty="0"/>
          </a:p>
        </p:txBody>
      </p:sp>
      <p:sp>
        <p:nvSpPr>
          <p:cNvPr id="3" name="Объект 2">
            <a:extLst>
              <a:ext uri="{FF2B5EF4-FFF2-40B4-BE49-F238E27FC236}">
                <a16:creationId xmlns:a16="http://schemas.microsoft.com/office/drawing/2014/main" id="{2AD16FA4-E44E-4FDB-B658-0AAFD958489B}"/>
              </a:ext>
            </a:extLst>
          </p:cNvPr>
          <p:cNvSpPr>
            <a:spLocks noGrp="1"/>
          </p:cNvSpPr>
          <p:nvPr>
            <p:ph idx="1"/>
          </p:nvPr>
        </p:nvSpPr>
        <p:spPr/>
        <p:txBody>
          <a:bodyPr>
            <a:normAutofit lnSpcReduction="10000"/>
          </a:bodyPr>
          <a:lstStyle/>
          <a:p>
            <a:pPr algn="l"/>
            <a:r>
              <a:rPr lang="ru-RU" b="1" dirty="0">
                <a:solidFill>
                  <a:srgbClr val="333333"/>
                </a:solidFill>
                <a:effectLst/>
                <a:latin typeface="YS Text"/>
              </a:rPr>
              <a:t>Риски, связанные с лицензированием и сертификацией</a:t>
            </a:r>
            <a:r>
              <a:rPr lang="ru-RU" b="0" dirty="0">
                <a:solidFill>
                  <a:srgbClr val="333333"/>
                </a:solidFill>
                <a:effectLst/>
                <a:latin typeface="YS Text"/>
              </a:rPr>
              <a:t>, включают:</a:t>
            </a:r>
          </a:p>
          <a:p>
            <a:pPr algn="l">
              <a:buFont typeface="Arial" panose="020B0604020202020204" pitchFamily="34" charset="0"/>
              <a:buChar char="•"/>
            </a:pPr>
            <a:r>
              <a:rPr lang="ru-RU" b="1" i="0" dirty="0">
                <a:solidFill>
                  <a:srgbClr val="333333"/>
                </a:solidFill>
                <a:effectLst/>
                <a:latin typeface="YS Text"/>
              </a:rPr>
              <a:t>Юридические последствия за работу без лицензии</a:t>
            </a:r>
            <a:r>
              <a:rPr lang="ru-RU" b="0" i="0" dirty="0">
                <a:solidFill>
                  <a:srgbClr val="333333"/>
                </a:solidFill>
                <a:effectLst/>
                <a:latin typeface="YS Text"/>
              </a:rPr>
              <a:t>. Если ИП или компания занимаются деятельностью, для которой точно нужна лицензия, но работают без неё, они рискуют получить штраф. При значительных доходах ИП или руководителя компании могут отправить на исправительные работы или даже посадить в тюрьму.</a:t>
            </a:r>
          </a:p>
          <a:p>
            <a:pPr algn="l">
              <a:buFont typeface="Arial" panose="020B0604020202020204" pitchFamily="34" charset="0"/>
              <a:buChar char="•"/>
            </a:pPr>
            <a:r>
              <a:rPr lang="ru-RU" b="1" i="0" dirty="0">
                <a:solidFill>
                  <a:srgbClr val="333333"/>
                </a:solidFill>
                <a:effectLst/>
                <a:latin typeface="YS Text"/>
              </a:rPr>
              <a:t>Негативное влияние на репутацию компании</a:t>
            </a:r>
            <a:r>
              <a:rPr lang="ru-RU" b="0" i="0" dirty="0">
                <a:solidFill>
                  <a:srgbClr val="333333"/>
                </a:solidFill>
                <a:effectLst/>
                <a:latin typeface="YS Text"/>
              </a:rPr>
              <a:t>. Потеря доверия со стороны клиентов и партнёров может значительно уменьшить конкурентоспособность на рынке. В результате организация рискует не только потерять существующих клиентов, но и столкнётся с трудностями в привлечении новых.</a:t>
            </a:r>
          </a:p>
          <a:p>
            <a:pPr algn="l">
              <a:buFont typeface="Arial" panose="020B0604020202020204" pitchFamily="34" charset="0"/>
              <a:buChar char="•"/>
            </a:pPr>
            <a:r>
              <a:rPr lang="ru-RU" b="1" i="0" dirty="0">
                <a:solidFill>
                  <a:srgbClr val="333333"/>
                </a:solidFill>
                <a:effectLst/>
                <a:latin typeface="YS Text"/>
              </a:rPr>
              <a:t>Влияние на качество предоставляемых услуг или товаров</a:t>
            </a:r>
            <a:r>
              <a:rPr lang="ru-RU" b="0" i="0" dirty="0">
                <a:solidFill>
                  <a:srgbClr val="333333"/>
                </a:solidFill>
                <a:effectLst/>
                <a:latin typeface="YS Text"/>
              </a:rPr>
              <a:t>. В долгосрочной перспективе это может привести к утрате перспективных бизнес-контрактов и сделок, что отразится на финансовых показателях компании.</a:t>
            </a:r>
          </a:p>
          <a:p>
            <a:endParaRPr lang="ru-RU" dirty="0"/>
          </a:p>
        </p:txBody>
      </p:sp>
    </p:spTree>
    <p:extLst>
      <p:ext uri="{BB962C8B-B14F-4D97-AF65-F5344CB8AC3E}">
        <p14:creationId xmlns:p14="http://schemas.microsoft.com/office/powerpoint/2010/main" val="1299500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80E52B-E95A-4F85-98DF-9112BCE850F0}"/>
              </a:ext>
            </a:extLst>
          </p:cNvPr>
          <p:cNvSpPr>
            <a:spLocks noGrp="1"/>
          </p:cNvSpPr>
          <p:nvPr>
            <p:ph type="title"/>
          </p:nvPr>
        </p:nvSpPr>
        <p:spPr/>
        <p:txBody>
          <a:bodyPr/>
          <a:lstStyle/>
          <a:p>
            <a:r>
              <a:rPr lang="ru-RU" dirty="0"/>
              <a:t>Примеры правовых рисков</a:t>
            </a:r>
          </a:p>
        </p:txBody>
      </p:sp>
      <p:sp>
        <p:nvSpPr>
          <p:cNvPr id="3" name="Объект 2">
            <a:extLst>
              <a:ext uri="{FF2B5EF4-FFF2-40B4-BE49-F238E27FC236}">
                <a16:creationId xmlns:a16="http://schemas.microsoft.com/office/drawing/2014/main" id="{8803CE37-9B38-463E-9C11-85DA4582E7DF}"/>
              </a:ext>
            </a:extLst>
          </p:cNvPr>
          <p:cNvSpPr>
            <a:spLocks noGrp="1"/>
          </p:cNvSpPr>
          <p:nvPr>
            <p:ph idx="1"/>
          </p:nvPr>
        </p:nvSpPr>
        <p:spPr>
          <a:xfrm>
            <a:off x="609600" y="1845733"/>
            <a:ext cx="11410950" cy="4421717"/>
          </a:xfrm>
        </p:spPr>
        <p:txBody>
          <a:bodyPr>
            <a:normAutofit fontScale="92500" lnSpcReduction="20000"/>
          </a:bodyPr>
          <a:lstStyle/>
          <a:p>
            <a:pPr algn="l">
              <a:spcBef>
                <a:spcPts val="0"/>
              </a:spcBef>
              <a:buFont typeface="Arial" panose="020B0604020202020204" pitchFamily="34" charset="0"/>
              <a:buChar char="•"/>
            </a:pPr>
            <a:r>
              <a:rPr lang="ru-RU" sz="2200" b="1" i="0" dirty="0">
                <a:solidFill>
                  <a:srgbClr val="333333"/>
                </a:solidFill>
                <a:effectLst/>
                <a:latin typeface="YS Text"/>
              </a:rPr>
              <a:t>Контрактные риски</a:t>
            </a:r>
            <a:r>
              <a:rPr lang="ru-RU" sz="2200" b="0" i="0" dirty="0">
                <a:solidFill>
                  <a:srgbClr val="333333"/>
                </a:solidFill>
                <a:effectLst/>
                <a:latin typeface="YS Text"/>
              </a:rPr>
              <a:t>. Возникают при заключении и исполнении договоров. Это могут быть риски, связанные с неисполнением обязательств, неправильной интерпретацией условий договора или наличием в нём невыгодных условий. Например, если условия договора не были чётко прописаны, это может привести к спорам и судебным разбирательствам.</a:t>
            </a:r>
          </a:p>
          <a:p>
            <a:pPr algn="l">
              <a:spcBef>
                <a:spcPts val="0"/>
              </a:spcBef>
              <a:buFont typeface="Arial" panose="020B0604020202020204" pitchFamily="34" charset="0"/>
              <a:buChar char="•"/>
            </a:pPr>
            <a:r>
              <a:rPr lang="ru-RU" sz="2200" b="1" i="0" dirty="0">
                <a:solidFill>
                  <a:srgbClr val="333333"/>
                </a:solidFill>
                <a:effectLst/>
                <a:latin typeface="YS Text"/>
              </a:rPr>
              <a:t>Регуляторные риски</a:t>
            </a:r>
            <a:r>
              <a:rPr lang="ru-RU" sz="2200" b="0" i="0" dirty="0">
                <a:solidFill>
                  <a:srgbClr val="333333"/>
                </a:solidFill>
                <a:effectLst/>
                <a:latin typeface="YS Text"/>
              </a:rPr>
              <a:t>. Связаны с изменениями в законодательстве и нормативных актах. Несоблюдение новых требований может привести к штрафам, санкциям и другим юридическим последствиям. Например, если компания не успевает адаптировать свои внутренние процессы к новым законодательным требованиям, это может привести к значительным финансовым потерям.</a:t>
            </a:r>
          </a:p>
          <a:p>
            <a:pPr algn="l">
              <a:spcBef>
                <a:spcPts val="0"/>
              </a:spcBef>
              <a:buFont typeface="Arial" panose="020B0604020202020204" pitchFamily="34" charset="0"/>
              <a:buChar char="•"/>
            </a:pPr>
            <a:r>
              <a:rPr lang="ru-RU" sz="2200" b="1" i="0" dirty="0">
                <a:solidFill>
                  <a:srgbClr val="333333"/>
                </a:solidFill>
                <a:effectLst/>
                <a:latin typeface="YS Text"/>
              </a:rPr>
              <a:t>Судебные риски</a:t>
            </a:r>
            <a:r>
              <a:rPr lang="ru-RU" sz="2200" b="0" i="0" dirty="0">
                <a:solidFill>
                  <a:srgbClr val="333333"/>
                </a:solidFill>
                <a:effectLst/>
                <a:latin typeface="YS Text"/>
              </a:rPr>
              <a:t>. Включают в себя возможность судебных разбирательств, которые могут быть инициированы как самой компанией, так и против неё. Это могут быть иски по поводу нарушения прав интеллектуальной собственности, трудовых споров и других правовых вопросов. Например, если компания не соблюдает авторские права или патенты, это может привести к судебным искам и значительным финансовым потерям.</a:t>
            </a:r>
          </a:p>
          <a:p>
            <a:pPr algn="l">
              <a:spcBef>
                <a:spcPts val="0"/>
              </a:spcBef>
              <a:buFont typeface="Arial" panose="020B0604020202020204" pitchFamily="34" charset="0"/>
              <a:buChar char="•"/>
            </a:pPr>
            <a:r>
              <a:rPr lang="ru-RU" sz="2200" b="1" i="0" dirty="0">
                <a:solidFill>
                  <a:srgbClr val="333333"/>
                </a:solidFill>
                <a:effectLst/>
                <a:latin typeface="YS Text"/>
              </a:rPr>
              <a:t>Корпоративные риски</a:t>
            </a:r>
            <a:r>
              <a:rPr lang="ru-RU" sz="2200" b="0" i="0" dirty="0">
                <a:solidFill>
                  <a:srgbClr val="333333"/>
                </a:solidFill>
                <a:effectLst/>
                <a:latin typeface="YS Text"/>
              </a:rPr>
              <a:t>. Связаны с внутренними процессами и структурой компании. Это могут быть риски, связанные с корпоративным управлением, конфликтами интересов и другими внутренними вопросами. Например, если в компании отсутствует чёткая структура управления, это может привести к конфликтам интересов и неэффективному принятию решений.</a:t>
            </a:r>
          </a:p>
          <a:p>
            <a:endParaRPr lang="ru-RU" dirty="0"/>
          </a:p>
        </p:txBody>
      </p:sp>
    </p:spTree>
    <p:extLst>
      <p:ext uri="{BB962C8B-B14F-4D97-AF65-F5344CB8AC3E}">
        <p14:creationId xmlns:p14="http://schemas.microsoft.com/office/powerpoint/2010/main" val="2472226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66D3DA-B15A-4B9C-B665-DD1839DAE08D}"/>
              </a:ext>
            </a:extLst>
          </p:cNvPr>
          <p:cNvSpPr>
            <a:spLocks noGrp="1"/>
          </p:cNvSpPr>
          <p:nvPr>
            <p:ph type="title"/>
          </p:nvPr>
        </p:nvSpPr>
        <p:spPr/>
        <p:txBody>
          <a:bodyPr/>
          <a:lstStyle/>
          <a:p>
            <a:r>
              <a:rPr lang="ru-RU" b="1" dirty="0">
                <a:solidFill>
                  <a:srgbClr val="333333"/>
                </a:solidFill>
                <a:effectLst/>
                <a:latin typeface="YS Text"/>
              </a:rPr>
              <a:t>Управление правовыми рисками</a:t>
            </a:r>
            <a:r>
              <a:rPr lang="ru-RU" b="0" dirty="0">
                <a:solidFill>
                  <a:srgbClr val="333333"/>
                </a:solidFill>
                <a:effectLst/>
                <a:latin typeface="YS Text"/>
              </a:rPr>
              <a:t> </a:t>
            </a:r>
            <a:endParaRPr lang="ru-RU" dirty="0"/>
          </a:p>
        </p:txBody>
      </p:sp>
      <p:sp>
        <p:nvSpPr>
          <p:cNvPr id="3" name="Объект 2">
            <a:extLst>
              <a:ext uri="{FF2B5EF4-FFF2-40B4-BE49-F238E27FC236}">
                <a16:creationId xmlns:a16="http://schemas.microsoft.com/office/drawing/2014/main" id="{1E06CEFB-327D-4EB7-BD95-7ACB611E7F6E}"/>
              </a:ext>
            </a:extLst>
          </p:cNvPr>
          <p:cNvSpPr>
            <a:spLocks noGrp="1"/>
          </p:cNvSpPr>
          <p:nvPr>
            <p:ph idx="1"/>
          </p:nvPr>
        </p:nvSpPr>
        <p:spPr>
          <a:xfrm>
            <a:off x="552450" y="1845734"/>
            <a:ext cx="11468100" cy="4412192"/>
          </a:xfrm>
        </p:spPr>
        <p:txBody>
          <a:bodyPr>
            <a:normAutofit fontScale="92500" lnSpcReduction="20000"/>
          </a:bodyPr>
          <a:lstStyle/>
          <a:p>
            <a:pPr algn="l"/>
            <a:r>
              <a:rPr lang="ru-RU" b="1" dirty="0">
                <a:solidFill>
                  <a:srgbClr val="333333"/>
                </a:solidFill>
                <a:effectLst/>
                <a:latin typeface="YS Text"/>
              </a:rPr>
              <a:t>Управление правовыми рисками</a:t>
            </a:r>
            <a:r>
              <a:rPr lang="ru-RU" b="0" dirty="0">
                <a:solidFill>
                  <a:srgbClr val="333333"/>
                </a:solidFill>
                <a:effectLst/>
                <a:latin typeface="YS Text"/>
              </a:rPr>
              <a:t> включает в себя комплекс мер, направленных на минимизацию возможных негативных последствий от нарушений законодательства. </a:t>
            </a:r>
          </a:p>
          <a:p>
            <a:pPr algn="l"/>
            <a:r>
              <a:rPr lang="ru-RU" b="1" dirty="0">
                <a:solidFill>
                  <a:srgbClr val="333333"/>
                </a:solidFill>
                <a:effectLst/>
                <a:latin typeface="YS Text"/>
              </a:rPr>
              <a:t>Некоторые стратегии управления правовыми и регуляторными рисками</a:t>
            </a:r>
            <a:r>
              <a:rPr lang="ru-RU" b="0" dirty="0">
                <a:solidFill>
                  <a:srgbClr val="333333"/>
                </a:solidFill>
                <a:effectLst/>
                <a:latin typeface="YS Text"/>
              </a:rPr>
              <a:t>:</a:t>
            </a:r>
          </a:p>
          <a:p>
            <a:pPr algn="l">
              <a:buFont typeface="Arial" panose="020B0604020202020204" pitchFamily="34" charset="0"/>
              <a:buChar char="•"/>
            </a:pPr>
            <a:r>
              <a:rPr lang="ru-RU" b="1" i="0" dirty="0">
                <a:solidFill>
                  <a:srgbClr val="333333"/>
                </a:solidFill>
                <a:effectLst/>
                <a:latin typeface="YS Text"/>
              </a:rPr>
              <a:t>Проведение правового аудита</a:t>
            </a:r>
            <a:r>
              <a:rPr lang="ru-RU" b="0" i="0" dirty="0">
                <a:solidFill>
                  <a:srgbClr val="333333"/>
                </a:solidFill>
                <a:effectLst/>
                <a:latin typeface="YS Text"/>
              </a:rPr>
              <a:t>. Позволяет определить, насколько организация соответствует требованиям законодательства. По итогам аудита составляется подробный отчёт, в котором отмечаются несоответствия и даются рекомендации по их устранению.</a:t>
            </a:r>
          </a:p>
          <a:p>
            <a:pPr algn="l">
              <a:buFont typeface="Arial" panose="020B0604020202020204" pitchFamily="34" charset="0"/>
              <a:buChar char="•"/>
            </a:pPr>
            <a:r>
              <a:rPr lang="ru-RU" b="1" i="0" dirty="0">
                <a:solidFill>
                  <a:srgbClr val="333333"/>
                </a:solidFill>
                <a:effectLst/>
                <a:latin typeface="YS Text"/>
              </a:rPr>
              <a:t>Углублённый анализ законодательства</a:t>
            </a:r>
            <a:r>
              <a:rPr lang="ru-RU" b="0" i="0" dirty="0">
                <a:solidFill>
                  <a:srgbClr val="333333"/>
                </a:solidFill>
                <a:effectLst/>
                <a:latin typeface="YS Text"/>
              </a:rPr>
              <a:t>. Например, для стартапов в сфере </a:t>
            </a:r>
            <a:r>
              <a:rPr lang="ru-RU" b="0" i="0" dirty="0" err="1">
                <a:solidFill>
                  <a:srgbClr val="333333"/>
                </a:solidFill>
                <a:effectLst/>
                <a:latin typeface="YS Text"/>
              </a:rPr>
              <a:t>блокчейна</a:t>
            </a:r>
            <a:r>
              <a:rPr lang="ru-RU" b="0" i="0" dirty="0">
                <a:solidFill>
                  <a:srgbClr val="333333"/>
                </a:solidFill>
                <a:effectLst/>
                <a:latin typeface="YS Text"/>
              </a:rPr>
              <a:t> важно анализировать законодательство разных стран, искать сертифицированных юридических консультантов и постоянно мониторить новости, связанные с цифровыми активами. </a:t>
            </a:r>
          </a:p>
          <a:p>
            <a:pPr algn="l">
              <a:buFont typeface="Arial" panose="020B0604020202020204" pitchFamily="34" charset="0"/>
              <a:buChar char="•"/>
            </a:pPr>
            <a:r>
              <a:rPr lang="ru-RU" b="1" i="0" dirty="0">
                <a:solidFill>
                  <a:srgbClr val="333333"/>
                </a:solidFill>
                <a:effectLst/>
                <a:latin typeface="YS Text"/>
              </a:rPr>
              <a:t>Разработка обязывающих документов</a:t>
            </a:r>
            <a:r>
              <a:rPr lang="ru-RU" b="0" i="0" dirty="0">
                <a:solidFill>
                  <a:srgbClr val="333333"/>
                </a:solidFill>
                <a:effectLst/>
                <a:latin typeface="YS Text"/>
              </a:rPr>
              <a:t>. Например, </a:t>
            </a:r>
            <a:r>
              <a:rPr lang="ru-RU" b="0" i="0" dirty="0" err="1">
                <a:solidFill>
                  <a:srgbClr val="333333"/>
                </a:solidFill>
                <a:effectLst/>
                <a:latin typeface="YS Text"/>
              </a:rPr>
              <a:t>Terms</a:t>
            </a:r>
            <a:r>
              <a:rPr lang="ru-RU" b="0" i="0" dirty="0">
                <a:solidFill>
                  <a:srgbClr val="333333"/>
                </a:solidFill>
                <a:effectLst/>
                <a:latin typeface="YS Text"/>
              </a:rPr>
              <a:t> </a:t>
            </a:r>
            <a:r>
              <a:rPr lang="ru-RU" b="0" i="0" dirty="0" err="1">
                <a:solidFill>
                  <a:srgbClr val="333333"/>
                </a:solidFill>
                <a:effectLst/>
                <a:latin typeface="YS Text"/>
              </a:rPr>
              <a:t>of</a:t>
            </a:r>
            <a:r>
              <a:rPr lang="ru-RU" b="0" i="0" dirty="0">
                <a:solidFill>
                  <a:srgbClr val="333333"/>
                </a:solidFill>
                <a:effectLst/>
                <a:latin typeface="YS Text"/>
              </a:rPr>
              <a:t> </a:t>
            </a:r>
            <a:r>
              <a:rPr lang="ru-RU" b="0" i="0" dirty="0" err="1">
                <a:solidFill>
                  <a:srgbClr val="333333"/>
                </a:solidFill>
                <a:effectLst/>
                <a:latin typeface="YS Text"/>
              </a:rPr>
              <a:t>Use</a:t>
            </a:r>
            <a:r>
              <a:rPr lang="ru-RU" b="0" i="0" dirty="0">
                <a:solidFill>
                  <a:srgbClr val="333333"/>
                </a:solidFill>
                <a:effectLst/>
                <a:latin typeface="YS Text"/>
              </a:rPr>
              <a:t>, которые определяют взаимоотношения между сервисом и пользователем, включая вопросы ограничения ответственности, или </a:t>
            </a:r>
            <a:r>
              <a:rPr lang="ru-RU" b="0" i="0" dirty="0" err="1">
                <a:solidFill>
                  <a:srgbClr val="333333"/>
                </a:solidFill>
                <a:effectLst/>
                <a:latin typeface="YS Text"/>
              </a:rPr>
              <a:t>Privacy</a:t>
            </a:r>
            <a:r>
              <a:rPr lang="ru-RU" b="0" i="0" dirty="0">
                <a:solidFill>
                  <a:srgbClr val="333333"/>
                </a:solidFill>
                <a:effectLst/>
                <a:latin typeface="YS Text"/>
              </a:rPr>
              <a:t> Policy, освещающей, как обрабатываются персональные данные. </a:t>
            </a:r>
          </a:p>
          <a:p>
            <a:pPr algn="l">
              <a:buFont typeface="Arial" panose="020B0604020202020204" pitchFamily="34" charset="0"/>
              <a:buChar char="•"/>
            </a:pPr>
            <a:r>
              <a:rPr lang="ru-RU" b="1" i="0" dirty="0">
                <a:solidFill>
                  <a:srgbClr val="333333"/>
                </a:solidFill>
                <a:effectLst/>
                <a:latin typeface="YS Text"/>
              </a:rPr>
              <a:t>Учёт антимонопольного законодательства</a:t>
            </a:r>
            <a:r>
              <a:rPr lang="ru-RU" b="0" i="0" dirty="0">
                <a:solidFill>
                  <a:srgbClr val="333333"/>
                </a:solidFill>
                <a:effectLst/>
                <a:latin typeface="YS Text"/>
              </a:rPr>
              <a:t>. Например, владельцы сайтов не должны использовать своё положение на рынке для исключения конкурентов или снижения качества услуг, устанавливать неправомерные цены или условия продажи, нарушать права потребителей и т. д.</a:t>
            </a:r>
          </a:p>
          <a:p>
            <a:endParaRPr lang="ru-RU" dirty="0"/>
          </a:p>
        </p:txBody>
      </p:sp>
    </p:spTree>
    <p:extLst>
      <p:ext uri="{BB962C8B-B14F-4D97-AF65-F5344CB8AC3E}">
        <p14:creationId xmlns:p14="http://schemas.microsoft.com/office/powerpoint/2010/main" val="2730965008"/>
      </p:ext>
    </p:extLst>
  </p:cSld>
  <p:clrMapOvr>
    <a:masterClrMapping/>
  </p:clrMapOvr>
</p:sld>
</file>

<file path=ppt/theme/theme1.xml><?xml version="1.0" encoding="utf-8"?>
<a:theme xmlns:a="http://schemas.openxmlformats.org/drawingml/2006/main" name="Ретро">
  <a:themeElements>
    <a:clrScheme name="Ретр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Ретр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Ретр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44</TotalTime>
  <Words>377</Words>
  <Application>Microsoft Office PowerPoint</Application>
  <PresentationFormat>Широкоэкранный</PresentationFormat>
  <Paragraphs>58</Paragraphs>
  <Slides>9</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9</vt:i4>
      </vt:variant>
    </vt:vector>
  </HeadingPairs>
  <TitlesOfParts>
    <vt:vector size="15" baseType="lpstr">
      <vt:lpstr>Arial</vt:lpstr>
      <vt:lpstr>Calibri</vt:lpstr>
      <vt:lpstr>Calibri Light</vt:lpstr>
      <vt:lpstr>Times New Roman</vt:lpstr>
      <vt:lpstr>YS Text</vt:lpstr>
      <vt:lpstr>Ретро</vt:lpstr>
      <vt:lpstr>Правовые и регуляторные риски</vt:lpstr>
      <vt:lpstr>Правовые и регуляторные риски </vt:lpstr>
      <vt:lpstr>Законодательные ограничения деятельности </vt:lpstr>
      <vt:lpstr>Комплаенс</vt:lpstr>
      <vt:lpstr>Лицензирование деятельности</vt:lpstr>
      <vt:lpstr>Сертификация</vt:lpstr>
      <vt:lpstr>Риски, связанные с лицензированием и сертификацией</vt:lpstr>
      <vt:lpstr>Примеры правовых рисков</vt:lpstr>
      <vt:lpstr>Управление правовыми рисками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Правовые и регуляторные риски</dc:title>
  <dc:creator>Admin</dc:creator>
  <cp:lastModifiedBy>Паршин Николай Сергеевич</cp:lastModifiedBy>
  <cp:revision>9</cp:revision>
  <dcterms:created xsi:type="dcterms:W3CDTF">2025-08-08T14:44:02Z</dcterms:created>
  <dcterms:modified xsi:type="dcterms:W3CDTF">2026-02-26T08:12:11Z</dcterms:modified>
</cp:coreProperties>
</file>